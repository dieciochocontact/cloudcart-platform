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a todos. Mi nombre es [tu nombre] y hoy os voy a presentar VaultPay Platform, mi proyecto capstone del bootcamp de Cloud Engineering. Es una infraestructura fintech de producción, construida completamente con Terraform, desplegada en AWS, con seguridad y monitorización integradas desde el diseño. Voy a explicar la arquitectura, hacer una demo en vivo, y terminar con los resultados y aprendizajes.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estructura de hoy: primero el problema que resuelve el proyecto, luego la arquitectura completa, después una demo en vivo de la aplicación funcionando, profundizo en seguridad y monitorización, comparto los retos que tuve, y cierro con costes y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reto: cualquier plataforma fintech maneja datos sensibles de clientes, así que no se puede permitir caídas, agujeros de seguridad ni fallos sin detectar. VaultPay resuelve esto con una arquitectura multi-AZ sin punto único de fallo, todo definido como código con Terraform, seguridad desde el diseño con capas aisladas, y observabilidad integrada para detectar problemas antes de que afecten a los usuarios.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arquitectura completa. El tráfico entra por internet hacia el Application Load Balancer en subnets públicas. El ALB reparte la carga hacia un Auto Scaling Group de entre 3 y 6 instancias EC2 en subnets privadas de aplicación, cada una con un rol IAM de mínimo privilegio. Esas instancias se conectan a RDS PostgreSQL, que vive en subnets privadas de datos completamente aisladas, sin ninguna ruta a internet. Las credenciales de la base de datos nunca están escritas en el código: se generan aleatoriamente y se guardan en AWS Secrets Manager. Por debajo de todo esto hay una capa de observabilidad y seguridad: CloudWatch, VPC Flow Logs, CloudTrail multi-región y Security Hub con el CIS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entender cómo funciona en la práctica: el usuario hace una petición que llega al ALB, el ALB la reparte a una instancia sana según el health check, esa instancia obtiene las credenciales de la base de datos en tiempo de ejecución desde Secrets Manager, hace la consulta a RDS por un canal privado y cifrado, y devuelve la respuesta mientras CloudWatch registra las métricas de esa petición. Todo esto ocurre en milisegundos y queda monitorizado.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vamos a verlo en directo. Voy a abrir la URL del balanceador de carga en el navegador. [Abrir navegador]. Aquí está VaultPay funcionando. Hago click en Health Check para ver el ID de la instancia y la zona de disponibilidad que me atendió. Ahora Database Status, para demostrar que la app está conectada de verdad a PostgreSQL en RDS, usando credenciales que nunca están escritas en el código, solo en Secrets Manager. Y aquí, Live Metrics, que consulta directamente CloudWatch y me muestra el CPU actual y el estado de las cinco alarmas configuradas. Si tengo tiempo, lanzo el script de estrés desde la terminal para que veáis el CPU subir en tiempo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Profundizando en seguridad: aplico defensa en profundidad en tres capas. Primero, aislamiento de red: tres tiers separados, la base de datos no tiene ninguna ruta a internet, y los security groups siguen mínimo privilegio, solo el ALB puede hablar con la capa de aplicación. Segundo, identidad y secretos: las instancias usan roles IAM, nunca claves hardcodeadas, y la contraseña de la base de datos se genera automáticamente y vive solo en Secrets Manager. Tercero, auditoría y cumplimiento: CloudTrail registra cada llamada a la API, VPC Flow Logs captura todo el tráfico de red, y Security Hub evalúa la cuenta contra el CIS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observabilidad tengo un dashboard de CloudWatch con el tráfico del ALB, el número de hosts no saludables, y el historial de Auto Scaling. Además integré las métricas directamente en la propia aplicación: el botón Live Metrics llama a CloudWatch en tiempo real. Tengo cinco alarmas conectadas a un topic de SNS que me manda un email: dos para el escalado automático según CPU, una para detectar hosts no saludables, y otra para picos de errores 5xx en el balanceador.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 la infraestructura se gestiona vía GitOps. Cada push a la rama principal dispara un pipeline de GitHub Actions que hace checkout, configura Terraform, ejecuta un chequeo de formato, valida la sintaxis y genera un plan. Esto significa que ningún cambio se aplica a mano: todo pasa por revisión y validación automática antes de tocar producción. Las credenciales de AWS solo existen como secrets cifrados en GitHub, nunca en el código. Y el pipeline está en verde, pasando todas las comprobaciones en cada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retos reales que me encontré. El primero, un misterio de errores 502: tras actualizar la app para conectarse a RDS, todas las instancias devolvían error. La causa: Terraform solo aplica el user_data nuevo a instancias creadas desde cero, no reinicia las existentes. La solución fue usar terraform apply -replace para forzar la recreación. El segundo, cada cambio en el servidor Python embebido requería recrear toda la instancia, lo cual me hizo entender el trade-off real entre meter el código en el user_data y tener un pipeline de despliegue de verdad. El tercero, migrar de instancias fijas a un Auto Scaling Group rompió varias salidas del módulo y alarmas atadas a IDs de instancia, así que tuve que refactorizar el módulo de monitorización para usar métricas a nivel de grupo y de balanceador, lo cual al final dio un sistema de monitorización más realista y profesional.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resultados: tengo entre 3 y 6 instancias auto-escaladas en 2 zonas de disponibilidad, 5 alarmas activas, y el 100% de las credenciales gestionadas vía Secrets Manager, ninguna hardcodeada. En coste, Auto Scaling evita pagar por capacidad pico ociosa todo el día, las instancias están bien dimensionadas para el entorno de desarrollo, uso un solo NAT Gateway en dev pero documento la opción multi-NAT para producción, y aplico etiquetas de asignación de costes. En valor de negocio: la infraestructura es completamente reproducible en minutos, la postura de seguridad es demostrable ante un auditor, el tiempo de detección de fallos se reduce gracias a las alarmas proactivas, y el autoescalado elimina la planificación manual de capacidad.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los próximos pasos serían añadir HTTPS con un dominio propio, separar el frontend a S3 con CloudFront, contenerizar la aplicación para despliegues sin downtime, y diseñar una estrategia de recuperación ante desastres multi-región. La conclusión principal es que construir VaultPay de punta a punta —red, cómputo, datos, seguridad y observabilidad, todo como código— me ha demostrado que puedo diseñar y entregar infraestructura cloud de nivel producción, no solo usar servicios de AWS de forma aislada. Muchas gracias, quedo abierto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3"/>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3284A"/>
          </a:solidFill>
          <a:ln/>
        </p:spPr>
      </p:sp>
      <p:sp>
        <p:nvSpPr>
          <p:cNvPr id="3" name="Shape 1"/>
          <p:cNvSpPr/>
          <p:nvPr/>
        </p:nvSpPr>
        <p:spPr>
          <a:xfrm>
            <a:off x="-2286000" y="4389120"/>
            <a:ext cx="4572000" cy="4572000"/>
          </a:xfrm>
          <a:prstGeom prst="ellipse">
            <a:avLst/>
          </a:prstGeom>
          <a:solidFill>
            <a:srgbClr val="13284A"/>
          </a:solidFill>
          <a:ln/>
        </p:spPr>
      </p:sp>
      <p:sp>
        <p:nvSpPr>
          <p:cNvPr id="4" name="Shape 2"/>
          <p:cNvSpPr/>
          <p:nvPr/>
        </p:nvSpPr>
        <p:spPr>
          <a:xfrm>
            <a:off x="640080" y="548640"/>
            <a:ext cx="777240" cy="777240"/>
          </a:xfrm>
          <a:prstGeom prst="ellipse">
            <a:avLst/>
          </a:prstGeom>
          <a:solidFill>
            <a:srgbClr val="13284A"/>
          </a:solidFill>
          <a:ln w="19050">
            <a:solidFill>
              <a:srgbClr val="00B4D8"/>
            </a:solidFill>
            <a:prstDash val="solid"/>
          </a:ln>
        </p:spPr>
      </p:sp>
      <p:pic>
        <p:nvPicPr>
          <p:cNvPr id="5" name="Image 0" descr="preencoded.png">    </p:cNvPr>
          <p:cNvPicPr>
            <a:picLocks noChangeAspect="1"/>
          </p:cNvPicPr>
          <p:nvPr/>
        </p:nvPicPr>
        <p:blipFill>
          <a:blip r:embed="rId1"/>
          <a:stretch>
            <a:fillRect/>
          </a:stretch>
        </p:blipFill>
        <p:spPr>
          <a:xfrm>
            <a:off x="826618" y="735178"/>
            <a:ext cx="404165" cy="404165"/>
          </a:xfrm>
          <a:prstGeom prst="rect">
            <a:avLst/>
          </a:prstGeom>
        </p:spPr>
      </p:pic>
      <p:sp>
        <p:nvSpPr>
          <p:cNvPr id="6" name="Text 3"/>
          <p:cNvSpPr/>
          <p:nvPr/>
        </p:nvSpPr>
        <p:spPr>
          <a:xfrm>
            <a:off x="640080" y="2331720"/>
            <a:ext cx="9144000" cy="365760"/>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CLOUD ENGINEERING BOOTCAMP  •  CAPSTONE PROJECT</a:t>
            </a:r>
            <a:endParaRPr lang="en-US" sz="1300" dirty="0"/>
          </a:p>
        </p:txBody>
      </p:sp>
      <p:sp>
        <p:nvSpPr>
          <p:cNvPr id="7" name="Text 4"/>
          <p:cNvSpPr/>
          <p:nvPr/>
        </p:nvSpPr>
        <p:spPr>
          <a:xfrm>
            <a:off x="594360" y="2697480"/>
            <a:ext cx="105156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VaultPay Platform</a:t>
            </a:r>
            <a:endParaRPr lang="en-US" sz="6000" dirty="0"/>
          </a:p>
        </p:txBody>
      </p:sp>
      <p:sp>
        <p:nvSpPr>
          <p:cNvPr id="8" name="Text 5"/>
          <p:cNvSpPr/>
          <p:nvPr/>
        </p:nvSpPr>
        <p:spPr>
          <a:xfrm>
            <a:off x="640080" y="3886200"/>
            <a:ext cx="8686800" cy="731520"/>
          </a:xfrm>
          <a:prstGeom prst="rect">
            <a:avLst/>
          </a:prstGeom>
          <a:noFill/>
          <a:ln/>
        </p:spPr>
        <p:txBody>
          <a:bodyPr wrap="square" lIns="0" tIns="0" rIns="0" bIns="0" rtlCol="0" anchor="ctr"/>
          <a:lstStyle/>
          <a:p>
            <a:pPr indent="0" marL="0">
              <a:buNone/>
            </a:pPr>
            <a:r>
              <a:rPr lang="en-US" sz="1600" i="1" dirty="0">
                <a:solidFill>
                  <a:srgbClr val="C7CEDC"/>
                </a:solidFill>
                <a:latin typeface="Calibri" pitchFamily="34" charset="0"/>
                <a:ea typeface="Calibri" pitchFamily="34" charset="-122"/>
                <a:cs typeface="Calibri" pitchFamily="34" charset="-120"/>
              </a:rPr>
              <a:t>A production-ready, multi-tier fintech infrastructure on AWS — built with Terraform, secured by design, and monitored in real time.</a:t>
            </a:r>
            <a:endParaRPr lang="en-US" sz="1600" dirty="0"/>
          </a:p>
        </p:txBody>
      </p:sp>
      <p:sp>
        <p:nvSpPr>
          <p:cNvPr id="9" name="Shape 6"/>
          <p:cNvSpPr/>
          <p:nvPr/>
        </p:nvSpPr>
        <p:spPr>
          <a:xfrm>
            <a:off x="640080" y="5074920"/>
            <a:ext cx="2331720" cy="566928"/>
          </a:xfrm>
          <a:prstGeom prst="roundRect">
            <a:avLst>
              <a:gd name="adj" fmla="val 50000"/>
            </a:avLst>
          </a:prstGeom>
          <a:solidFill>
            <a:srgbClr val="13284A"/>
          </a:solidFill>
          <a:ln w="12700">
            <a:solidFill>
              <a:srgbClr val="27406B"/>
            </a:solidFill>
            <a:prstDash val="solid"/>
          </a:ln>
        </p:spPr>
      </p:sp>
      <p:pic>
        <p:nvPicPr>
          <p:cNvPr id="10" name="Image 1" descr="preencoded.png">    </p:cNvPr>
          <p:cNvPicPr>
            <a:picLocks noChangeAspect="1"/>
          </p:cNvPicPr>
          <p:nvPr/>
        </p:nvPicPr>
        <p:blipFill>
          <a:blip r:embed="rId2"/>
          <a:stretch>
            <a:fillRect/>
          </a:stretch>
        </p:blipFill>
        <p:spPr>
          <a:xfrm>
            <a:off x="804672" y="5193792"/>
            <a:ext cx="329184" cy="329184"/>
          </a:xfrm>
          <a:prstGeom prst="rect">
            <a:avLst/>
          </a:prstGeom>
        </p:spPr>
      </p:pic>
      <p:sp>
        <p:nvSpPr>
          <p:cNvPr id="11" name="Text 7"/>
          <p:cNvSpPr/>
          <p:nvPr/>
        </p:nvSpPr>
        <p:spPr>
          <a:xfrm>
            <a:off x="1207008" y="5074920"/>
            <a:ext cx="169164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Terraform IaC</a:t>
            </a:r>
            <a:endParaRPr lang="en-US" sz="1250" dirty="0"/>
          </a:p>
        </p:txBody>
      </p:sp>
      <p:sp>
        <p:nvSpPr>
          <p:cNvPr id="12" name="Shape 8"/>
          <p:cNvSpPr/>
          <p:nvPr/>
        </p:nvSpPr>
        <p:spPr>
          <a:xfrm>
            <a:off x="3136392" y="5074920"/>
            <a:ext cx="2331720" cy="566928"/>
          </a:xfrm>
          <a:prstGeom prst="roundRect">
            <a:avLst>
              <a:gd name="adj" fmla="val 50000"/>
            </a:avLst>
          </a:prstGeom>
          <a:solidFill>
            <a:srgbClr val="13284A"/>
          </a:solidFill>
          <a:ln w="12700">
            <a:solidFill>
              <a:srgbClr val="27406B"/>
            </a:solidFill>
            <a:prstDash val="solid"/>
          </a:ln>
        </p:spPr>
      </p:sp>
      <p:pic>
        <p:nvPicPr>
          <p:cNvPr id="13" name="Image 2" descr="preencoded.png">    </p:cNvPr>
          <p:cNvPicPr>
            <a:picLocks noChangeAspect="1"/>
          </p:cNvPicPr>
          <p:nvPr/>
        </p:nvPicPr>
        <p:blipFill>
          <a:blip r:embed="rId3"/>
          <a:stretch>
            <a:fillRect/>
          </a:stretch>
        </p:blipFill>
        <p:spPr>
          <a:xfrm>
            <a:off x="3300984" y="5193792"/>
            <a:ext cx="329184" cy="329184"/>
          </a:xfrm>
          <a:prstGeom prst="rect">
            <a:avLst/>
          </a:prstGeom>
        </p:spPr>
      </p:pic>
      <p:sp>
        <p:nvSpPr>
          <p:cNvPr id="14" name="Text 9"/>
          <p:cNvSpPr/>
          <p:nvPr/>
        </p:nvSpPr>
        <p:spPr>
          <a:xfrm>
            <a:off x="3703320" y="5074920"/>
            <a:ext cx="169164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Multi-AZ VPC</a:t>
            </a:r>
            <a:endParaRPr lang="en-US" sz="1250" dirty="0"/>
          </a:p>
        </p:txBody>
      </p:sp>
      <p:sp>
        <p:nvSpPr>
          <p:cNvPr id="15" name="Shape 10"/>
          <p:cNvSpPr/>
          <p:nvPr/>
        </p:nvSpPr>
        <p:spPr>
          <a:xfrm>
            <a:off x="5632704" y="5074920"/>
            <a:ext cx="2331720" cy="566928"/>
          </a:xfrm>
          <a:prstGeom prst="roundRect">
            <a:avLst>
              <a:gd name="adj" fmla="val 50000"/>
            </a:avLst>
          </a:prstGeom>
          <a:solidFill>
            <a:srgbClr val="13284A"/>
          </a:solidFill>
          <a:ln w="12700">
            <a:solidFill>
              <a:srgbClr val="27406B"/>
            </a:solidFill>
            <a:prstDash val="solid"/>
          </a:ln>
        </p:spPr>
      </p:sp>
      <p:pic>
        <p:nvPicPr>
          <p:cNvPr id="16" name="Image 3" descr="preencoded.png">    </p:cNvPr>
          <p:cNvPicPr>
            <a:picLocks noChangeAspect="1"/>
          </p:cNvPicPr>
          <p:nvPr/>
        </p:nvPicPr>
        <p:blipFill>
          <a:blip r:embed="rId4"/>
          <a:stretch>
            <a:fillRect/>
          </a:stretch>
        </p:blipFill>
        <p:spPr>
          <a:xfrm>
            <a:off x="5797296" y="5193792"/>
            <a:ext cx="329184" cy="329184"/>
          </a:xfrm>
          <a:prstGeom prst="rect">
            <a:avLst/>
          </a:prstGeom>
        </p:spPr>
      </p:pic>
      <p:sp>
        <p:nvSpPr>
          <p:cNvPr id="17" name="Text 11"/>
          <p:cNvSpPr/>
          <p:nvPr/>
        </p:nvSpPr>
        <p:spPr>
          <a:xfrm>
            <a:off x="6199632" y="5074920"/>
            <a:ext cx="169164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RDS PostgreSQL</a:t>
            </a:r>
            <a:endParaRPr lang="en-US" sz="1250" dirty="0"/>
          </a:p>
        </p:txBody>
      </p:sp>
      <p:sp>
        <p:nvSpPr>
          <p:cNvPr id="18" name="Shape 12"/>
          <p:cNvSpPr/>
          <p:nvPr/>
        </p:nvSpPr>
        <p:spPr>
          <a:xfrm>
            <a:off x="8129016" y="5074920"/>
            <a:ext cx="2331720" cy="566928"/>
          </a:xfrm>
          <a:prstGeom prst="roundRect">
            <a:avLst>
              <a:gd name="adj" fmla="val 50000"/>
            </a:avLst>
          </a:prstGeom>
          <a:solidFill>
            <a:srgbClr val="13284A"/>
          </a:solidFill>
          <a:ln w="12700">
            <a:solidFill>
              <a:srgbClr val="27406B"/>
            </a:solidFill>
            <a:prstDash val="solid"/>
          </a:ln>
        </p:spPr>
      </p:sp>
      <p:pic>
        <p:nvPicPr>
          <p:cNvPr id="19" name="Image 4" descr="preencoded.png">    </p:cNvPr>
          <p:cNvPicPr>
            <a:picLocks noChangeAspect="1"/>
          </p:cNvPicPr>
          <p:nvPr/>
        </p:nvPicPr>
        <p:blipFill>
          <a:blip r:embed="rId5"/>
          <a:stretch>
            <a:fillRect/>
          </a:stretch>
        </p:blipFill>
        <p:spPr>
          <a:xfrm>
            <a:off x="8293608" y="5193792"/>
            <a:ext cx="329184" cy="329184"/>
          </a:xfrm>
          <a:prstGeom prst="rect">
            <a:avLst/>
          </a:prstGeom>
        </p:spPr>
      </p:pic>
      <p:sp>
        <p:nvSpPr>
          <p:cNvPr id="20" name="Text 13"/>
          <p:cNvSpPr/>
          <p:nvPr/>
        </p:nvSpPr>
        <p:spPr>
          <a:xfrm>
            <a:off x="8695944" y="5074920"/>
            <a:ext cx="169164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CI/CD Pipeline</a:t>
            </a:r>
            <a:endParaRPr lang="en-US" sz="1250" dirty="0"/>
          </a:p>
        </p:txBody>
      </p:sp>
      <p:sp>
        <p:nvSpPr>
          <p:cNvPr id="21" name="Text 14"/>
          <p:cNvSpPr/>
          <p:nvPr/>
        </p:nvSpPr>
        <p:spPr>
          <a:xfrm>
            <a:off x="640080" y="6263640"/>
            <a:ext cx="7315200" cy="320040"/>
          </a:xfrm>
          <a:prstGeom prst="rect">
            <a:avLst/>
          </a:prstGeom>
          <a:noFill/>
          <a:ln/>
        </p:spPr>
        <p:txBody>
          <a:bodyPr wrap="square" lIns="0" tIns="0" rIns="0" bIns="0" rtlCol="0" anchor="ctr"/>
          <a:lstStyle/>
          <a:p>
            <a:pPr indent="0" marL="0">
              <a:buNone/>
            </a:pPr>
            <a:r>
              <a:rPr lang="en-US" sz="1100" dirty="0">
                <a:solidFill>
                  <a:srgbClr val="8A93A6"/>
                </a:solidFill>
                <a:latin typeface="Calibri" pitchFamily="34" charset="0"/>
                <a:ea typeface="Calibri" pitchFamily="34" charset="-122"/>
                <a:cs typeface="Calibri" pitchFamily="34" charset="-120"/>
              </a:rPr>
              <a:t>Presented by: Anderson Fernandes Salazar   |   Bootcamp Week 9 Final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We'll Cover Today</a:t>
            </a:r>
            <a:endParaRPr lang="en-US" sz="3000" dirty="0"/>
          </a:p>
        </p:txBody>
      </p:sp>
      <p:sp>
        <p:nvSpPr>
          <p:cNvPr id="4" name="Shape 2"/>
          <p:cNvSpPr/>
          <p:nvPr/>
        </p:nvSpPr>
        <p:spPr>
          <a:xfrm>
            <a:off x="548640" y="1600200"/>
            <a:ext cx="5349240" cy="1188720"/>
          </a:xfrm>
          <a:prstGeom prst="roundRect">
            <a:avLst>
              <a:gd name="adj" fmla="val 9231"/>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777240" y="1828800"/>
            <a:ext cx="731520" cy="731520"/>
          </a:xfrm>
          <a:prstGeom prst="ellipse">
            <a:avLst/>
          </a:prstGeom>
          <a:solidFill>
            <a:srgbClr val="13284A"/>
          </a:solidFill>
          <a:ln w="19050">
            <a:solidFill>
              <a:srgbClr val="00B4D8"/>
            </a:solidFill>
            <a:prstDash val="solid"/>
          </a:ln>
        </p:spPr>
      </p:sp>
      <p:pic>
        <p:nvPicPr>
          <p:cNvPr id="6" name="Image 0" descr="preencoded.png">    </p:cNvPr>
          <p:cNvPicPr>
            <a:picLocks noChangeAspect="1"/>
          </p:cNvPicPr>
          <p:nvPr/>
        </p:nvPicPr>
        <p:blipFill>
          <a:blip r:embed="rId1"/>
          <a:stretch>
            <a:fillRect/>
          </a:stretch>
        </p:blipFill>
        <p:spPr>
          <a:xfrm>
            <a:off x="952805" y="2004365"/>
            <a:ext cx="380390" cy="380390"/>
          </a:xfrm>
          <a:prstGeom prst="rect">
            <a:avLst/>
          </a:prstGeom>
        </p:spPr>
      </p:pic>
      <p:sp>
        <p:nvSpPr>
          <p:cNvPr id="7" name="Text 4"/>
          <p:cNvSpPr/>
          <p:nvPr/>
        </p:nvSpPr>
        <p:spPr>
          <a:xfrm>
            <a:off x="777240" y="2377440"/>
            <a:ext cx="731520" cy="320040"/>
          </a:xfrm>
          <a:prstGeom prst="rect">
            <a:avLst/>
          </a:prstGeom>
          <a:noFill/>
          <a:ln/>
        </p:spPr>
        <p:txBody>
          <a:bodyPr wrap="square" lIns="0" tIns="0" rIns="0" bIns="0" rtlCol="0" anchor="ctr"/>
          <a:lstStyle/>
          <a:p>
            <a:pPr indent="0" marL="0">
              <a:buNone/>
            </a:pPr>
            <a:r>
              <a:rPr lang="en-US" sz="1400" b="1" dirty="0">
                <a:solidFill>
                  <a:srgbClr val="8A93A6"/>
                </a:solidFill>
                <a:latin typeface="Cambria" pitchFamily="34" charset="0"/>
                <a:ea typeface="Cambria" pitchFamily="34" charset="-122"/>
                <a:cs typeface="Cambria" pitchFamily="34" charset="-120"/>
              </a:rPr>
              <a:t>01</a:t>
            </a:r>
            <a:endParaRPr lang="en-US" sz="1400" dirty="0"/>
          </a:p>
        </p:txBody>
      </p:sp>
      <p:sp>
        <p:nvSpPr>
          <p:cNvPr id="8" name="Text 5"/>
          <p:cNvSpPr/>
          <p:nvPr/>
        </p:nvSpPr>
        <p:spPr>
          <a:xfrm>
            <a:off x="1691640" y="1600200"/>
            <a:ext cx="3977640" cy="11887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Introduction &amp; Problem Statement</a:t>
            </a:r>
            <a:endParaRPr lang="en-US" sz="1600" dirty="0"/>
          </a:p>
        </p:txBody>
      </p:sp>
      <p:sp>
        <p:nvSpPr>
          <p:cNvPr id="9" name="Shape 6"/>
          <p:cNvSpPr/>
          <p:nvPr/>
        </p:nvSpPr>
        <p:spPr>
          <a:xfrm>
            <a:off x="6172200" y="1600200"/>
            <a:ext cx="5349240" cy="1188720"/>
          </a:xfrm>
          <a:prstGeom prst="roundRect">
            <a:avLst>
              <a:gd name="adj" fmla="val 9231"/>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0" name="Shape 7"/>
          <p:cNvSpPr/>
          <p:nvPr/>
        </p:nvSpPr>
        <p:spPr>
          <a:xfrm>
            <a:off x="6400800" y="1828800"/>
            <a:ext cx="731520" cy="731520"/>
          </a:xfrm>
          <a:prstGeom prst="ellipse">
            <a:avLst/>
          </a:prstGeom>
          <a:solidFill>
            <a:srgbClr val="13284A"/>
          </a:solidFill>
          <a:ln w="19050">
            <a:solidFill>
              <a:srgbClr val="00B4D8"/>
            </a:solidFill>
            <a:prstDash val="solid"/>
          </a:ln>
        </p:spPr>
      </p:sp>
      <p:pic>
        <p:nvPicPr>
          <p:cNvPr id="11" name="Image 1" descr="preencoded.png">    </p:cNvPr>
          <p:cNvPicPr>
            <a:picLocks noChangeAspect="1"/>
          </p:cNvPicPr>
          <p:nvPr/>
        </p:nvPicPr>
        <p:blipFill>
          <a:blip r:embed="rId2"/>
          <a:stretch>
            <a:fillRect/>
          </a:stretch>
        </p:blipFill>
        <p:spPr>
          <a:xfrm>
            <a:off x="6576365" y="2004365"/>
            <a:ext cx="380390" cy="380390"/>
          </a:xfrm>
          <a:prstGeom prst="rect">
            <a:avLst/>
          </a:prstGeom>
        </p:spPr>
      </p:pic>
      <p:sp>
        <p:nvSpPr>
          <p:cNvPr id="12" name="Text 8"/>
          <p:cNvSpPr/>
          <p:nvPr/>
        </p:nvSpPr>
        <p:spPr>
          <a:xfrm>
            <a:off x="6400800" y="2377440"/>
            <a:ext cx="731520" cy="320040"/>
          </a:xfrm>
          <a:prstGeom prst="rect">
            <a:avLst/>
          </a:prstGeom>
          <a:noFill/>
          <a:ln/>
        </p:spPr>
        <p:txBody>
          <a:bodyPr wrap="square" lIns="0" tIns="0" rIns="0" bIns="0" rtlCol="0" anchor="ctr"/>
          <a:lstStyle/>
          <a:p>
            <a:pPr indent="0" marL="0">
              <a:buNone/>
            </a:pPr>
            <a:r>
              <a:rPr lang="en-US" sz="1400" b="1" dirty="0">
                <a:solidFill>
                  <a:srgbClr val="8A93A6"/>
                </a:solidFill>
                <a:latin typeface="Cambria" pitchFamily="34" charset="0"/>
                <a:ea typeface="Cambria" pitchFamily="34" charset="-122"/>
                <a:cs typeface="Cambria" pitchFamily="34" charset="-120"/>
              </a:rPr>
              <a:t>02</a:t>
            </a:r>
            <a:endParaRPr lang="en-US" sz="1400" dirty="0"/>
          </a:p>
        </p:txBody>
      </p:sp>
      <p:sp>
        <p:nvSpPr>
          <p:cNvPr id="13" name="Text 9"/>
          <p:cNvSpPr/>
          <p:nvPr/>
        </p:nvSpPr>
        <p:spPr>
          <a:xfrm>
            <a:off x="7315200" y="1600200"/>
            <a:ext cx="3977640" cy="11887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Architecture Overview</a:t>
            </a:r>
            <a:endParaRPr lang="en-US" sz="1600" dirty="0"/>
          </a:p>
        </p:txBody>
      </p:sp>
      <p:sp>
        <p:nvSpPr>
          <p:cNvPr id="14" name="Shape 10"/>
          <p:cNvSpPr/>
          <p:nvPr/>
        </p:nvSpPr>
        <p:spPr>
          <a:xfrm>
            <a:off x="548640" y="3017520"/>
            <a:ext cx="5349240" cy="1188720"/>
          </a:xfrm>
          <a:prstGeom prst="roundRect">
            <a:avLst>
              <a:gd name="adj" fmla="val 9231"/>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5" name="Shape 11"/>
          <p:cNvSpPr/>
          <p:nvPr/>
        </p:nvSpPr>
        <p:spPr>
          <a:xfrm>
            <a:off x="777240" y="3246120"/>
            <a:ext cx="731520" cy="731520"/>
          </a:xfrm>
          <a:prstGeom prst="ellipse">
            <a:avLst/>
          </a:prstGeom>
          <a:solidFill>
            <a:srgbClr val="13284A"/>
          </a:solidFill>
          <a:ln w="19050">
            <a:solidFill>
              <a:srgbClr val="00B4D8"/>
            </a:solidFill>
            <a:prstDash val="solid"/>
          </a:ln>
        </p:spPr>
      </p:sp>
      <p:pic>
        <p:nvPicPr>
          <p:cNvPr id="16" name="Image 2" descr="preencoded.png">    </p:cNvPr>
          <p:cNvPicPr>
            <a:picLocks noChangeAspect="1"/>
          </p:cNvPicPr>
          <p:nvPr/>
        </p:nvPicPr>
        <p:blipFill>
          <a:blip r:embed="rId3"/>
          <a:stretch>
            <a:fillRect/>
          </a:stretch>
        </p:blipFill>
        <p:spPr>
          <a:xfrm>
            <a:off x="952805" y="3421685"/>
            <a:ext cx="380390" cy="380390"/>
          </a:xfrm>
          <a:prstGeom prst="rect">
            <a:avLst/>
          </a:prstGeom>
        </p:spPr>
      </p:pic>
      <p:sp>
        <p:nvSpPr>
          <p:cNvPr id="17" name="Text 12"/>
          <p:cNvSpPr/>
          <p:nvPr/>
        </p:nvSpPr>
        <p:spPr>
          <a:xfrm>
            <a:off x="777240" y="3794760"/>
            <a:ext cx="731520" cy="320040"/>
          </a:xfrm>
          <a:prstGeom prst="rect">
            <a:avLst/>
          </a:prstGeom>
          <a:noFill/>
          <a:ln/>
        </p:spPr>
        <p:txBody>
          <a:bodyPr wrap="square" lIns="0" tIns="0" rIns="0" bIns="0" rtlCol="0" anchor="ctr"/>
          <a:lstStyle/>
          <a:p>
            <a:pPr indent="0" marL="0">
              <a:buNone/>
            </a:pPr>
            <a:r>
              <a:rPr lang="en-US" sz="1400" b="1" dirty="0">
                <a:solidFill>
                  <a:srgbClr val="8A93A6"/>
                </a:solidFill>
                <a:latin typeface="Cambria" pitchFamily="34" charset="0"/>
                <a:ea typeface="Cambria" pitchFamily="34" charset="-122"/>
                <a:cs typeface="Cambria" pitchFamily="34" charset="-120"/>
              </a:rPr>
              <a:t>03</a:t>
            </a:r>
            <a:endParaRPr lang="en-US" sz="1400" dirty="0"/>
          </a:p>
        </p:txBody>
      </p:sp>
      <p:sp>
        <p:nvSpPr>
          <p:cNvPr id="18" name="Text 13"/>
          <p:cNvSpPr/>
          <p:nvPr/>
        </p:nvSpPr>
        <p:spPr>
          <a:xfrm>
            <a:off x="1691640" y="3017520"/>
            <a:ext cx="3977640" cy="11887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Live Demo</a:t>
            </a:r>
            <a:endParaRPr lang="en-US" sz="1600" dirty="0"/>
          </a:p>
        </p:txBody>
      </p:sp>
      <p:sp>
        <p:nvSpPr>
          <p:cNvPr id="19" name="Shape 14"/>
          <p:cNvSpPr/>
          <p:nvPr/>
        </p:nvSpPr>
        <p:spPr>
          <a:xfrm>
            <a:off x="6172200" y="3017520"/>
            <a:ext cx="5349240" cy="1188720"/>
          </a:xfrm>
          <a:prstGeom prst="roundRect">
            <a:avLst>
              <a:gd name="adj" fmla="val 9231"/>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20" name="Shape 15"/>
          <p:cNvSpPr/>
          <p:nvPr/>
        </p:nvSpPr>
        <p:spPr>
          <a:xfrm>
            <a:off x="6400800" y="3246120"/>
            <a:ext cx="731520" cy="731520"/>
          </a:xfrm>
          <a:prstGeom prst="ellipse">
            <a:avLst/>
          </a:prstGeom>
          <a:solidFill>
            <a:srgbClr val="13284A"/>
          </a:solidFill>
          <a:ln w="19050">
            <a:solidFill>
              <a:srgbClr val="00B4D8"/>
            </a:solidFill>
            <a:prstDash val="solid"/>
          </a:ln>
        </p:spPr>
      </p:sp>
      <p:pic>
        <p:nvPicPr>
          <p:cNvPr id="21" name="Image 3" descr="preencoded.png">    </p:cNvPr>
          <p:cNvPicPr>
            <a:picLocks noChangeAspect="1"/>
          </p:cNvPicPr>
          <p:nvPr/>
        </p:nvPicPr>
        <p:blipFill>
          <a:blip r:embed="rId4"/>
          <a:stretch>
            <a:fillRect/>
          </a:stretch>
        </p:blipFill>
        <p:spPr>
          <a:xfrm>
            <a:off x="6576365" y="3421685"/>
            <a:ext cx="380390" cy="380390"/>
          </a:xfrm>
          <a:prstGeom prst="rect">
            <a:avLst/>
          </a:prstGeom>
        </p:spPr>
      </p:pic>
      <p:sp>
        <p:nvSpPr>
          <p:cNvPr id="22" name="Text 16"/>
          <p:cNvSpPr/>
          <p:nvPr/>
        </p:nvSpPr>
        <p:spPr>
          <a:xfrm>
            <a:off x="6400800" y="3794760"/>
            <a:ext cx="731520" cy="320040"/>
          </a:xfrm>
          <a:prstGeom prst="rect">
            <a:avLst/>
          </a:prstGeom>
          <a:noFill/>
          <a:ln/>
        </p:spPr>
        <p:txBody>
          <a:bodyPr wrap="square" lIns="0" tIns="0" rIns="0" bIns="0" rtlCol="0" anchor="ctr"/>
          <a:lstStyle/>
          <a:p>
            <a:pPr indent="0" marL="0">
              <a:buNone/>
            </a:pPr>
            <a:r>
              <a:rPr lang="en-US" sz="1400" b="1" dirty="0">
                <a:solidFill>
                  <a:srgbClr val="8A93A6"/>
                </a:solidFill>
                <a:latin typeface="Cambria" pitchFamily="34" charset="0"/>
                <a:ea typeface="Cambria" pitchFamily="34" charset="-122"/>
                <a:cs typeface="Cambria" pitchFamily="34" charset="-120"/>
              </a:rPr>
              <a:t>04</a:t>
            </a:r>
            <a:endParaRPr lang="en-US" sz="1400" dirty="0"/>
          </a:p>
        </p:txBody>
      </p:sp>
      <p:sp>
        <p:nvSpPr>
          <p:cNvPr id="23" name="Text 17"/>
          <p:cNvSpPr/>
          <p:nvPr/>
        </p:nvSpPr>
        <p:spPr>
          <a:xfrm>
            <a:off x="7315200" y="3017520"/>
            <a:ext cx="3977640" cy="11887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Technical Deep Dive: Security &amp; Monitoring</a:t>
            </a:r>
            <a:endParaRPr lang="en-US" sz="1600" dirty="0"/>
          </a:p>
        </p:txBody>
      </p:sp>
      <p:sp>
        <p:nvSpPr>
          <p:cNvPr id="24" name="Shape 18"/>
          <p:cNvSpPr/>
          <p:nvPr/>
        </p:nvSpPr>
        <p:spPr>
          <a:xfrm>
            <a:off x="548640" y="4434840"/>
            <a:ext cx="5349240" cy="1188720"/>
          </a:xfrm>
          <a:prstGeom prst="roundRect">
            <a:avLst>
              <a:gd name="adj" fmla="val 9231"/>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25" name="Shape 19"/>
          <p:cNvSpPr/>
          <p:nvPr/>
        </p:nvSpPr>
        <p:spPr>
          <a:xfrm>
            <a:off x="777240" y="4663440"/>
            <a:ext cx="731520" cy="731520"/>
          </a:xfrm>
          <a:prstGeom prst="ellipse">
            <a:avLst/>
          </a:prstGeom>
          <a:solidFill>
            <a:srgbClr val="13284A"/>
          </a:solidFill>
          <a:ln w="19050">
            <a:solidFill>
              <a:srgbClr val="00B4D8"/>
            </a:solidFill>
            <a:prstDash val="solid"/>
          </a:ln>
        </p:spPr>
      </p:sp>
      <p:pic>
        <p:nvPicPr>
          <p:cNvPr id="26" name="Image 4" descr="preencoded.png">    </p:cNvPr>
          <p:cNvPicPr>
            <a:picLocks noChangeAspect="1"/>
          </p:cNvPicPr>
          <p:nvPr/>
        </p:nvPicPr>
        <p:blipFill>
          <a:blip r:embed="rId5"/>
          <a:stretch>
            <a:fillRect/>
          </a:stretch>
        </p:blipFill>
        <p:spPr>
          <a:xfrm>
            <a:off x="952805" y="4839005"/>
            <a:ext cx="380390" cy="380390"/>
          </a:xfrm>
          <a:prstGeom prst="rect">
            <a:avLst/>
          </a:prstGeom>
        </p:spPr>
      </p:pic>
      <p:sp>
        <p:nvSpPr>
          <p:cNvPr id="27" name="Text 20"/>
          <p:cNvSpPr/>
          <p:nvPr/>
        </p:nvSpPr>
        <p:spPr>
          <a:xfrm>
            <a:off x="777240" y="5212080"/>
            <a:ext cx="731520" cy="320040"/>
          </a:xfrm>
          <a:prstGeom prst="rect">
            <a:avLst/>
          </a:prstGeom>
          <a:noFill/>
          <a:ln/>
        </p:spPr>
        <p:txBody>
          <a:bodyPr wrap="square" lIns="0" tIns="0" rIns="0" bIns="0" rtlCol="0" anchor="ctr"/>
          <a:lstStyle/>
          <a:p>
            <a:pPr indent="0" marL="0">
              <a:buNone/>
            </a:pPr>
            <a:r>
              <a:rPr lang="en-US" sz="1400" b="1" dirty="0">
                <a:solidFill>
                  <a:srgbClr val="8A93A6"/>
                </a:solidFill>
                <a:latin typeface="Cambria" pitchFamily="34" charset="0"/>
                <a:ea typeface="Cambria" pitchFamily="34" charset="-122"/>
                <a:cs typeface="Cambria" pitchFamily="34" charset="-120"/>
              </a:rPr>
              <a:t>05</a:t>
            </a:r>
            <a:endParaRPr lang="en-US" sz="1400" dirty="0"/>
          </a:p>
        </p:txBody>
      </p:sp>
      <p:sp>
        <p:nvSpPr>
          <p:cNvPr id="28" name="Text 21"/>
          <p:cNvSpPr/>
          <p:nvPr/>
        </p:nvSpPr>
        <p:spPr>
          <a:xfrm>
            <a:off x="1691640" y="4434840"/>
            <a:ext cx="3977640" cy="11887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Challenges &amp; Lessons Learned</a:t>
            </a:r>
            <a:endParaRPr lang="en-US" sz="1600" dirty="0"/>
          </a:p>
        </p:txBody>
      </p:sp>
      <p:sp>
        <p:nvSpPr>
          <p:cNvPr id="29" name="Shape 22"/>
          <p:cNvSpPr/>
          <p:nvPr/>
        </p:nvSpPr>
        <p:spPr>
          <a:xfrm>
            <a:off x="6172200" y="4434840"/>
            <a:ext cx="5349240" cy="1188720"/>
          </a:xfrm>
          <a:prstGeom prst="roundRect">
            <a:avLst>
              <a:gd name="adj" fmla="val 9231"/>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30" name="Shape 23"/>
          <p:cNvSpPr/>
          <p:nvPr/>
        </p:nvSpPr>
        <p:spPr>
          <a:xfrm>
            <a:off x="6400800" y="4663440"/>
            <a:ext cx="731520" cy="731520"/>
          </a:xfrm>
          <a:prstGeom prst="ellipse">
            <a:avLst/>
          </a:prstGeom>
          <a:solidFill>
            <a:srgbClr val="13284A"/>
          </a:solidFill>
          <a:ln w="19050">
            <a:solidFill>
              <a:srgbClr val="00B4D8"/>
            </a:solidFill>
            <a:prstDash val="solid"/>
          </a:ln>
        </p:spPr>
      </p:sp>
      <p:pic>
        <p:nvPicPr>
          <p:cNvPr id="31" name="Image 5" descr="preencoded.png">    </p:cNvPr>
          <p:cNvPicPr>
            <a:picLocks noChangeAspect="1"/>
          </p:cNvPicPr>
          <p:nvPr/>
        </p:nvPicPr>
        <p:blipFill>
          <a:blip r:embed="rId6"/>
          <a:stretch>
            <a:fillRect/>
          </a:stretch>
        </p:blipFill>
        <p:spPr>
          <a:xfrm>
            <a:off x="6576365" y="4839005"/>
            <a:ext cx="380390" cy="380390"/>
          </a:xfrm>
          <a:prstGeom prst="rect">
            <a:avLst/>
          </a:prstGeom>
        </p:spPr>
      </p:pic>
      <p:sp>
        <p:nvSpPr>
          <p:cNvPr id="32" name="Text 24"/>
          <p:cNvSpPr/>
          <p:nvPr/>
        </p:nvSpPr>
        <p:spPr>
          <a:xfrm>
            <a:off x="6400800" y="5212080"/>
            <a:ext cx="731520" cy="320040"/>
          </a:xfrm>
          <a:prstGeom prst="rect">
            <a:avLst/>
          </a:prstGeom>
          <a:noFill/>
          <a:ln/>
        </p:spPr>
        <p:txBody>
          <a:bodyPr wrap="square" lIns="0" tIns="0" rIns="0" bIns="0" rtlCol="0" anchor="ctr"/>
          <a:lstStyle/>
          <a:p>
            <a:pPr indent="0" marL="0">
              <a:buNone/>
            </a:pPr>
            <a:r>
              <a:rPr lang="en-US" sz="1400" b="1" dirty="0">
                <a:solidFill>
                  <a:srgbClr val="8A93A6"/>
                </a:solidFill>
                <a:latin typeface="Cambria" pitchFamily="34" charset="0"/>
                <a:ea typeface="Cambria" pitchFamily="34" charset="-122"/>
                <a:cs typeface="Cambria" pitchFamily="34" charset="-120"/>
              </a:rPr>
              <a:t>06</a:t>
            </a:r>
            <a:endParaRPr lang="en-US" sz="1400" dirty="0"/>
          </a:p>
        </p:txBody>
      </p:sp>
      <p:sp>
        <p:nvSpPr>
          <p:cNvPr id="33" name="Text 25"/>
          <p:cNvSpPr/>
          <p:nvPr/>
        </p:nvSpPr>
        <p:spPr>
          <a:xfrm>
            <a:off x="7315200" y="4434840"/>
            <a:ext cx="3977640" cy="11887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Results, Costs &amp; Q&amp;A</a:t>
            </a:r>
            <a:endParaRPr lang="en-US" sz="1600" dirty="0"/>
          </a:p>
        </p:txBody>
      </p:sp>
      <p:sp>
        <p:nvSpPr>
          <p:cNvPr id="34" name="Text 2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2</a:t>
            </a:r>
            <a:endParaRPr lang="en-US" sz="1000" dirty="0"/>
          </a:p>
        </p:txBody>
      </p:sp>
      <p:sp>
        <p:nvSpPr>
          <p:cNvPr id="35" name="Text 27"/>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3A6"/>
                </a:solidFill>
                <a:latin typeface="Calibri" pitchFamily="34" charset="0"/>
                <a:ea typeface="Calibri" pitchFamily="34" charset="-122"/>
                <a:cs typeface="Calibri" pitchFamily="34" charset="-120"/>
              </a:rPr>
              <a:t>VaultPay Platform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Challenge: Building Fintech-Grade Infrastructure</a:t>
            </a:r>
            <a:endParaRPr lang="en-US" sz="3000" dirty="0"/>
          </a:p>
        </p:txBody>
      </p:sp>
      <p:sp>
        <p:nvSpPr>
          <p:cNvPr id="4" name="Shape 2"/>
          <p:cNvSpPr/>
          <p:nvPr/>
        </p:nvSpPr>
        <p:spPr>
          <a:xfrm>
            <a:off x="548640" y="1600200"/>
            <a:ext cx="5486400" cy="4434840"/>
          </a:xfrm>
          <a:prstGeom prst="roundRect">
            <a:avLst>
              <a:gd name="adj" fmla="val 2474"/>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868680" y="1828800"/>
            <a:ext cx="4937760" cy="457200"/>
          </a:xfrm>
          <a:prstGeom prst="rect">
            <a:avLst/>
          </a:prstGeom>
          <a:noFill/>
          <a:ln/>
        </p:spPr>
        <p:txBody>
          <a:bodyPr wrap="square" lIns="0" tIns="0" rIns="0" bIns="0" rtlCol="0" anchor="ctr"/>
          <a:lstStyle/>
          <a:p>
            <a:pPr indent="0" marL="0">
              <a:buNone/>
            </a:pPr>
            <a:r>
              <a:rPr lang="en-US" sz="1900" b="1" dirty="0">
                <a:solidFill>
                  <a:srgbClr val="00B4D8"/>
                </a:solidFill>
                <a:latin typeface="Cambria" pitchFamily="34" charset="0"/>
                <a:ea typeface="Cambria" pitchFamily="34" charset="-122"/>
                <a:cs typeface="Cambria" pitchFamily="34" charset="-120"/>
              </a:rPr>
              <a:t>Problem Statement</a:t>
            </a:r>
            <a:endParaRPr lang="en-US" sz="1900" dirty="0"/>
          </a:p>
        </p:txBody>
      </p:sp>
      <p:sp>
        <p:nvSpPr>
          <p:cNvPr id="6" name="Text 4"/>
          <p:cNvSpPr/>
          <p:nvPr/>
        </p:nvSpPr>
        <p:spPr>
          <a:xfrm>
            <a:off x="868680" y="2377440"/>
            <a:ext cx="4937760" cy="3474720"/>
          </a:xfrm>
          <a:prstGeom prst="rect">
            <a:avLst/>
          </a:prstGeom>
          <a:noFill/>
          <a:ln/>
        </p:spPr>
        <p:txBody>
          <a:bodyPr wrap="square" lIns="0" tIns="0" rIns="0" bIns="0" rtlCol="0" anchor="ctr"/>
          <a:lstStyle/>
          <a:p>
            <a:pPr marL="342900" indent="-342900">
              <a:lnSpc>
                <a:spcPct val="115000"/>
              </a:lnSpc>
              <a:spcAft>
                <a:spcPts val="1400"/>
              </a:spcAft>
              <a:buSzPct val="100000"/>
              <a:buChar char="•"/>
            </a:pPr>
            <a:r>
              <a:rPr lang="en-US" sz="1450" dirty="0">
                <a:solidFill>
                  <a:srgbClr val="D7DCE8"/>
                </a:solidFill>
                <a:latin typeface="Calibri" pitchFamily="34" charset="0"/>
                <a:ea typeface="Calibri" pitchFamily="34" charset="-122"/>
                <a:cs typeface="Calibri" pitchFamily="34" charset="-120"/>
              </a:rPr>
              <a:t>Financial platforms handle sensitive customer data and transactions — they cannot afford downtime, security gaps, or unmonitored failures.</a:t>
            </a:r>
            <a:endParaRPr lang="en-US" sz="1450" dirty="0"/>
          </a:p>
          <a:p>
            <a:pPr marL="342900" indent="-342900">
              <a:lnSpc>
                <a:spcPct val="115000"/>
              </a:lnSpc>
              <a:spcAft>
                <a:spcPts val="1400"/>
              </a:spcAft>
              <a:buSzPct val="100000"/>
              <a:buChar char="•"/>
            </a:pPr>
            <a:r>
              <a:rPr lang="en-US" sz="1450" dirty="0">
                <a:solidFill>
                  <a:srgbClr val="D7DCE8"/>
                </a:solidFill>
                <a:latin typeface="Calibri" pitchFamily="34" charset="0"/>
                <a:ea typeface="Calibri" pitchFamily="34" charset="-122"/>
                <a:cs typeface="Calibri" pitchFamily="34" charset="-120"/>
              </a:rPr>
              <a:t>Traditional single-server deployments create a single point of failure and have no audit trail.</a:t>
            </a:r>
            <a:endParaRPr lang="en-US" sz="1450" dirty="0"/>
          </a:p>
          <a:p>
            <a:pPr marL="342900" indent="-342900">
              <a:lnSpc>
                <a:spcPct val="115000"/>
              </a:lnSpc>
              <a:buSzPct val="100000"/>
              <a:buChar char="•"/>
            </a:pPr>
            <a:r>
              <a:rPr lang="en-US" sz="1450" dirty="0">
                <a:solidFill>
                  <a:srgbClr val="D7DCE8"/>
                </a:solidFill>
                <a:latin typeface="Calibri" pitchFamily="34" charset="0"/>
                <a:ea typeface="Calibri" pitchFamily="34" charset="-122"/>
                <a:cs typeface="Calibri" pitchFamily="34" charset="-120"/>
              </a:rPr>
              <a:t>Manual infrastructure changes are error-prone and impossible to reproduce consistently.</a:t>
            </a:r>
            <a:endParaRPr lang="en-US" sz="1450" dirty="0"/>
          </a:p>
        </p:txBody>
      </p:sp>
      <p:sp>
        <p:nvSpPr>
          <p:cNvPr id="7" name="Shape 5"/>
          <p:cNvSpPr/>
          <p:nvPr/>
        </p:nvSpPr>
        <p:spPr>
          <a:xfrm>
            <a:off x="6309360" y="1600200"/>
            <a:ext cx="5303520" cy="4434840"/>
          </a:xfrm>
          <a:prstGeom prst="roundRect">
            <a:avLst>
              <a:gd name="adj" fmla="val 2474"/>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6629400" y="1828800"/>
            <a:ext cx="4663440" cy="457200"/>
          </a:xfrm>
          <a:prstGeom prst="rect">
            <a:avLst/>
          </a:prstGeom>
          <a:noFill/>
          <a:ln/>
        </p:spPr>
        <p:txBody>
          <a:bodyPr wrap="square" lIns="0" tIns="0" rIns="0" bIns="0" rtlCol="0" anchor="ctr"/>
          <a:lstStyle/>
          <a:p>
            <a:pPr indent="0" marL="0">
              <a:buNone/>
            </a:pPr>
            <a:r>
              <a:rPr lang="en-US" sz="1900" b="1" dirty="0">
                <a:solidFill>
                  <a:srgbClr val="00FF88"/>
                </a:solidFill>
                <a:latin typeface="Cambria" pitchFamily="34" charset="0"/>
                <a:ea typeface="Cambria" pitchFamily="34" charset="-122"/>
                <a:cs typeface="Cambria" pitchFamily="34" charset="-120"/>
              </a:rPr>
              <a:t>The Solution: VaultPay</a:t>
            </a:r>
            <a:endParaRPr lang="en-US" sz="1900" dirty="0"/>
          </a:p>
        </p:txBody>
      </p:sp>
      <p:sp>
        <p:nvSpPr>
          <p:cNvPr id="9" name="Shape 7"/>
          <p:cNvSpPr/>
          <p:nvPr/>
        </p:nvSpPr>
        <p:spPr>
          <a:xfrm>
            <a:off x="6629400" y="2423160"/>
            <a:ext cx="502920" cy="502920"/>
          </a:xfrm>
          <a:prstGeom prst="ellipse">
            <a:avLst/>
          </a:prstGeom>
          <a:solidFill>
            <a:srgbClr val="13284A"/>
          </a:solidFill>
          <a:ln w="19050">
            <a:solidFill>
              <a:srgbClr val="00FF88"/>
            </a:solidFill>
            <a:prstDash val="solid"/>
          </a:ln>
        </p:spPr>
      </p:sp>
      <p:pic>
        <p:nvPicPr>
          <p:cNvPr id="10" name="Image 0" descr="preencoded.png">    </p:cNvPr>
          <p:cNvPicPr>
            <a:picLocks noChangeAspect="1"/>
          </p:cNvPicPr>
          <p:nvPr/>
        </p:nvPicPr>
        <p:blipFill>
          <a:blip r:embed="rId1"/>
          <a:stretch>
            <a:fillRect/>
          </a:stretch>
        </p:blipFill>
        <p:spPr>
          <a:xfrm>
            <a:off x="6750101" y="2543861"/>
            <a:ext cx="261518" cy="261518"/>
          </a:xfrm>
          <a:prstGeom prst="rect">
            <a:avLst/>
          </a:prstGeom>
        </p:spPr>
      </p:pic>
      <p:sp>
        <p:nvSpPr>
          <p:cNvPr id="11" name="Text 8"/>
          <p:cNvSpPr/>
          <p:nvPr/>
        </p:nvSpPr>
        <p:spPr>
          <a:xfrm>
            <a:off x="7269480" y="2377440"/>
            <a:ext cx="420624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Multi-AZ architecture</a:t>
            </a:r>
            <a:endParaRPr lang="en-US" sz="1450" dirty="0"/>
          </a:p>
        </p:txBody>
      </p:sp>
      <p:sp>
        <p:nvSpPr>
          <p:cNvPr id="12" name="Text 9"/>
          <p:cNvSpPr/>
          <p:nvPr/>
        </p:nvSpPr>
        <p:spPr>
          <a:xfrm>
            <a:off x="7269480" y="2679192"/>
            <a:ext cx="4206240" cy="320040"/>
          </a:xfrm>
          <a:prstGeom prst="rect">
            <a:avLst/>
          </a:prstGeom>
          <a:noFill/>
          <a:ln/>
        </p:spPr>
        <p:txBody>
          <a:bodyPr wrap="square" lIns="0" tIns="0" rIns="0" bIns="0" rtlCol="0" anchor="ctr"/>
          <a:lstStyle/>
          <a:p>
            <a:pPr indent="0" marL="0">
              <a:buNone/>
            </a:pPr>
            <a:r>
              <a:rPr lang="en-US" sz="1200" dirty="0">
                <a:solidFill>
                  <a:srgbClr val="8A93A6"/>
                </a:solidFill>
                <a:latin typeface="Calibri" pitchFamily="34" charset="0"/>
                <a:ea typeface="Calibri" pitchFamily="34" charset="-122"/>
                <a:cs typeface="Calibri" pitchFamily="34" charset="-120"/>
              </a:rPr>
              <a:t>Zero single point of failure</a:t>
            </a:r>
            <a:endParaRPr lang="en-US" sz="1200" dirty="0"/>
          </a:p>
        </p:txBody>
      </p:sp>
      <p:sp>
        <p:nvSpPr>
          <p:cNvPr id="13" name="Shape 10"/>
          <p:cNvSpPr/>
          <p:nvPr/>
        </p:nvSpPr>
        <p:spPr>
          <a:xfrm>
            <a:off x="6629400" y="3264408"/>
            <a:ext cx="502920" cy="502920"/>
          </a:xfrm>
          <a:prstGeom prst="ellipse">
            <a:avLst/>
          </a:prstGeom>
          <a:solidFill>
            <a:srgbClr val="13284A"/>
          </a:solidFill>
          <a:ln w="19050">
            <a:solidFill>
              <a:srgbClr val="00FF88"/>
            </a:solidFill>
            <a:prstDash val="solid"/>
          </a:ln>
        </p:spPr>
      </p:sp>
      <p:pic>
        <p:nvPicPr>
          <p:cNvPr id="14" name="Image 1" descr="preencoded.png">    </p:cNvPr>
          <p:cNvPicPr>
            <a:picLocks noChangeAspect="1"/>
          </p:cNvPicPr>
          <p:nvPr/>
        </p:nvPicPr>
        <p:blipFill>
          <a:blip r:embed="rId2"/>
          <a:stretch>
            <a:fillRect/>
          </a:stretch>
        </p:blipFill>
        <p:spPr>
          <a:xfrm>
            <a:off x="6750101" y="3385109"/>
            <a:ext cx="261518" cy="261518"/>
          </a:xfrm>
          <a:prstGeom prst="rect">
            <a:avLst/>
          </a:prstGeom>
        </p:spPr>
      </p:pic>
      <p:sp>
        <p:nvSpPr>
          <p:cNvPr id="15" name="Text 11"/>
          <p:cNvSpPr/>
          <p:nvPr/>
        </p:nvSpPr>
        <p:spPr>
          <a:xfrm>
            <a:off x="7269480" y="3218688"/>
            <a:ext cx="420624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Infrastructure as Code</a:t>
            </a:r>
            <a:endParaRPr lang="en-US" sz="1450" dirty="0"/>
          </a:p>
        </p:txBody>
      </p:sp>
      <p:sp>
        <p:nvSpPr>
          <p:cNvPr id="16" name="Text 12"/>
          <p:cNvSpPr/>
          <p:nvPr/>
        </p:nvSpPr>
        <p:spPr>
          <a:xfrm>
            <a:off x="7269480" y="3520440"/>
            <a:ext cx="4206240" cy="320040"/>
          </a:xfrm>
          <a:prstGeom prst="rect">
            <a:avLst/>
          </a:prstGeom>
          <a:noFill/>
          <a:ln/>
        </p:spPr>
        <p:txBody>
          <a:bodyPr wrap="square" lIns="0" tIns="0" rIns="0" bIns="0" rtlCol="0" anchor="ctr"/>
          <a:lstStyle/>
          <a:p>
            <a:pPr indent="0" marL="0">
              <a:buNone/>
            </a:pPr>
            <a:r>
              <a:rPr lang="en-US" sz="1200" dirty="0">
                <a:solidFill>
                  <a:srgbClr val="8A93A6"/>
                </a:solidFill>
                <a:latin typeface="Calibri" pitchFamily="34" charset="0"/>
                <a:ea typeface="Calibri" pitchFamily="34" charset="-122"/>
                <a:cs typeface="Calibri" pitchFamily="34" charset="-120"/>
              </a:rPr>
              <a:t>Every change is versioned &amp; reviewable</a:t>
            </a:r>
            <a:endParaRPr lang="en-US" sz="1200" dirty="0"/>
          </a:p>
        </p:txBody>
      </p:sp>
      <p:sp>
        <p:nvSpPr>
          <p:cNvPr id="17" name="Shape 13"/>
          <p:cNvSpPr/>
          <p:nvPr/>
        </p:nvSpPr>
        <p:spPr>
          <a:xfrm>
            <a:off x="6629400" y="4105656"/>
            <a:ext cx="502920" cy="502920"/>
          </a:xfrm>
          <a:prstGeom prst="ellipse">
            <a:avLst/>
          </a:prstGeom>
          <a:solidFill>
            <a:srgbClr val="13284A"/>
          </a:solidFill>
          <a:ln w="19050">
            <a:solidFill>
              <a:srgbClr val="00FF88"/>
            </a:solidFill>
            <a:prstDash val="solid"/>
          </a:ln>
        </p:spPr>
      </p:sp>
      <p:pic>
        <p:nvPicPr>
          <p:cNvPr id="18" name="Image 2" descr="preencoded.png">    </p:cNvPr>
          <p:cNvPicPr>
            <a:picLocks noChangeAspect="1"/>
          </p:cNvPicPr>
          <p:nvPr/>
        </p:nvPicPr>
        <p:blipFill>
          <a:blip r:embed="rId3"/>
          <a:stretch>
            <a:fillRect/>
          </a:stretch>
        </p:blipFill>
        <p:spPr>
          <a:xfrm>
            <a:off x="6750101" y="4226357"/>
            <a:ext cx="261518" cy="261518"/>
          </a:xfrm>
          <a:prstGeom prst="rect">
            <a:avLst/>
          </a:prstGeom>
        </p:spPr>
      </p:pic>
      <p:sp>
        <p:nvSpPr>
          <p:cNvPr id="19" name="Text 14"/>
          <p:cNvSpPr/>
          <p:nvPr/>
        </p:nvSpPr>
        <p:spPr>
          <a:xfrm>
            <a:off x="7269480" y="4059936"/>
            <a:ext cx="420624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Security by design</a:t>
            </a:r>
            <a:endParaRPr lang="en-US" sz="1450" dirty="0"/>
          </a:p>
        </p:txBody>
      </p:sp>
      <p:sp>
        <p:nvSpPr>
          <p:cNvPr id="20" name="Text 15"/>
          <p:cNvSpPr/>
          <p:nvPr/>
        </p:nvSpPr>
        <p:spPr>
          <a:xfrm>
            <a:off x="7269480" y="4361688"/>
            <a:ext cx="4206240" cy="320040"/>
          </a:xfrm>
          <a:prstGeom prst="rect">
            <a:avLst/>
          </a:prstGeom>
          <a:noFill/>
          <a:ln/>
        </p:spPr>
        <p:txBody>
          <a:bodyPr wrap="square" lIns="0" tIns="0" rIns="0" bIns="0" rtlCol="0" anchor="ctr"/>
          <a:lstStyle/>
          <a:p>
            <a:pPr indent="0" marL="0">
              <a:buNone/>
            </a:pPr>
            <a:r>
              <a:rPr lang="en-US" sz="1200" dirty="0">
                <a:solidFill>
                  <a:srgbClr val="8A93A6"/>
                </a:solidFill>
                <a:latin typeface="Calibri" pitchFamily="34" charset="0"/>
                <a:ea typeface="Calibri" pitchFamily="34" charset="-122"/>
                <a:cs typeface="Calibri" pitchFamily="34" charset="-120"/>
              </a:rPr>
              <a:t>Isolated tiers, encrypted secrets</a:t>
            </a:r>
            <a:endParaRPr lang="en-US" sz="1200" dirty="0"/>
          </a:p>
        </p:txBody>
      </p:sp>
      <p:sp>
        <p:nvSpPr>
          <p:cNvPr id="21" name="Shape 16"/>
          <p:cNvSpPr/>
          <p:nvPr/>
        </p:nvSpPr>
        <p:spPr>
          <a:xfrm>
            <a:off x="6629400" y="4946904"/>
            <a:ext cx="502920" cy="502920"/>
          </a:xfrm>
          <a:prstGeom prst="ellipse">
            <a:avLst/>
          </a:prstGeom>
          <a:solidFill>
            <a:srgbClr val="13284A"/>
          </a:solidFill>
          <a:ln w="19050">
            <a:solidFill>
              <a:srgbClr val="00FF88"/>
            </a:solidFill>
            <a:prstDash val="solid"/>
          </a:ln>
        </p:spPr>
      </p:sp>
      <p:pic>
        <p:nvPicPr>
          <p:cNvPr id="22" name="Image 3" descr="preencoded.png">    </p:cNvPr>
          <p:cNvPicPr>
            <a:picLocks noChangeAspect="1"/>
          </p:cNvPicPr>
          <p:nvPr/>
        </p:nvPicPr>
        <p:blipFill>
          <a:blip r:embed="rId4"/>
          <a:stretch>
            <a:fillRect/>
          </a:stretch>
        </p:blipFill>
        <p:spPr>
          <a:xfrm>
            <a:off x="6750101" y="5067605"/>
            <a:ext cx="261518" cy="261518"/>
          </a:xfrm>
          <a:prstGeom prst="rect">
            <a:avLst/>
          </a:prstGeom>
        </p:spPr>
      </p:pic>
      <p:sp>
        <p:nvSpPr>
          <p:cNvPr id="23" name="Text 17"/>
          <p:cNvSpPr/>
          <p:nvPr/>
        </p:nvSpPr>
        <p:spPr>
          <a:xfrm>
            <a:off x="7269480" y="4901184"/>
            <a:ext cx="420624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Built-in observability</a:t>
            </a:r>
            <a:endParaRPr lang="en-US" sz="1450" dirty="0"/>
          </a:p>
        </p:txBody>
      </p:sp>
      <p:sp>
        <p:nvSpPr>
          <p:cNvPr id="24" name="Text 18"/>
          <p:cNvSpPr/>
          <p:nvPr/>
        </p:nvSpPr>
        <p:spPr>
          <a:xfrm>
            <a:off x="7269480" y="5202936"/>
            <a:ext cx="4206240" cy="320040"/>
          </a:xfrm>
          <a:prstGeom prst="rect">
            <a:avLst/>
          </a:prstGeom>
          <a:noFill/>
          <a:ln/>
        </p:spPr>
        <p:txBody>
          <a:bodyPr wrap="square" lIns="0" tIns="0" rIns="0" bIns="0" rtlCol="0" anchor="ctr"/>
          <a:lstStyle/>
          <a:p>
            <a:pPr indent="0" marL="0">
              <a:buNone/>
            </a:pPr>
            <a:r>
              <a:rPr lang="en-US" sz="1200" dirty="0">
                <a:solidFill>
                  <a:srgbClr val="8A93A6"/>
                </a:solidFill>
                <a:latin typeface="Calibri" pitchFamily="34" charset="0"/>
                <a:ea typeface="Calibri" pitchFamily="34" charset="-122"/>
                <a:cs typeface="Calibri" pitchFamily="34" charset="-120"/>
              </a:rPr>
              <a:t>Real-time alerts before customers notice</a:t>
            </a:r>
            <a:endParaRPr lang="en-US" sz="1200" dirty="0"/>
          </a:p>
        </p:txBody>
      </p:sp>
      <p:sp>
        <p:nvSpPr>
          <p:cNvPr id="25" name="Text 1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3</a:t>
            </a:r>
            <a:endParaRPr lang="en-US" sz="1000" dirty="0"/>
          </a:p>
        </p:txBody>
      </p:sp>
      <p:sp>
        <p:nvSpPr>
          <p:cNvPr id="26" name="Text 20"/>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3A6"/>
                </a:solidFill>
                <a:latin typeface="Calibri" pitchFamily="34" charset="0"/>
                <a:ea typeface="Calibri" pitchFamily="34" charset="-122"/>
                <a:cs typeface="Calibri" pitchFamily="34" charset="-120"/>
              </a:rPr>
              <a:t>VaultPay Platform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Three-Tier Architecture on AWS</a:t>
            </a:r>
            <a:endParaRPr lang="en-US" sz="3000" dirty="0"/>
          </a:p>
        </p:txBody>
      </p:sp>
      <p:sp>
        <p:nvSpPr>
          <p:cNvPr id="4" name="Shape 2"/>
          <p:cNvSpPr/>
          <p:nvPr/>
        </p:nvSpPr>
        <p:spPr>
          <a:xfrm>
            <a:off x="548640" y="1508760"/>
            <a:ext cx="11064240" cy="4892040"/>
          </a:xfrm>
          <a:prstGeom prst="roundRect">
            <a:avLst>
              <a:gd name="adj" fmla="val 2243"/>
            </a:avLst>
          </a:prstGeom>
          <a:solidFill>
            <a:srgbClr val="0F1C33"/>
          </a:solidFill>
          <a:ln w="19050">
            <a:solidFill>
              <a:srgbClr val="27406B"/>
            </a:solidFill>
            <a:prstDash val="dash"/>
          </a:ln>
        </p:spPr>
      </p:sp>
      <p:sp>
        <p:nvSpPr>
          <p:cNvPr id="5" name="Text 3"/>
          <p:cNvSpPr/>
          <p:nvPr/>
        </p:nvSpPr>
        <p:spPr>
          <a:xfrm>
            <a:off x="822960" y="1627632"/>
            <a:ext cx="5486400" cy="274320"/>
          </a:xfrm>
          <a:prstGeom prst="rect">
            <a:avLst/>
          </a:prstGeom>
          <a:noFill/>
          <a:ln/>
        </p:spPr>
        <p:txBody>
          <a:bodyPr wrap="square" lIns="0" tIns="0" rIns="0" bIns="0" rtlCol="0" anchor="ctr"/>
          <a:lstStyle/>
          <a:p>
            <a:pPr indent="0" marL="0">
              <a:buNone/>
            </a:pPr>
            <a:r>
              <a:rPr lang="en-US" sz="1100" b="1" dirty="0">
                <a:solidFill>
                  <a:srgbClr val="8A93A6"/>
                </a:solidFill>
                <a:latin typeface="Calibri" pitchFamily="34" charset="0"/>
                <a:ea typeface="Calibri" pitchFamily="34" charset="-122"/>
                <a:cs typeface="Calibri" pitchFamily="34" charset="-120"/>
              </a:rPr>
              <a:t>VPC  10.0.0.0/16   (us-east-1a / us-east-1b)</a:t>
            </a:r>
            <a:endParaRPr lang="en-US" sz="1100" dirty="0"/>
          </a:p>
        </p:txBody>
      </p:sp>
      <p:sp>
        <p:nvSpPr>
          <p:cNvPr id="6" name="Shape 4"/>
          <p:cNvSpPr/>
          <p:nvPr/>
        </p:nvSpPr>
        <p:spPr>
          <a:xfrm>
            <a:off x="868680" y="2606040"/>
            <a:ext cx="640080" cy="640080"/>
          </a:xfrm>
          <a:prstGeom prst="ellipse">
            <a:avLst/>
          </a:prstGeom>
          <a:solidFill>
            <a:srgbClr val="13284A"/>
          </a:solidFill>
          <a:ln w="19050">
            <a:solidFill>
              <a:srgbClr val="00B4D8"/>
            </a:solidFill>
            <a:prstDash val="solid"/>
          </a:ln>
        </p:spPr>
      </p:sp>
      <p:pic>
        <p:nvPicPr>
          <p:cNvPr id="7" name="Image 0" descr="preencoded.png">    </p:cNvPr>
          <p:cNvPicPr>
            <a:picLocks noChangeAspect="1"/>
          </p:cNvPicPr>
          <p:nvPr/>
        </p:nvPicPr>
        <p:blipFill>
          <a:blip r:embed="rId1"/>
          <a:stretch>
            <a:fillRect/>
          </a:stretch>
        </p:blipFill>
        <p:spPr>
          <a:xfrm>
            <a:off x="1022299" y="2759659"/>
            <a:ext cx="332842" cy="332842"/>
          </a:xfrm>
          <a:prstGeom prst="rect">
            <a:avLst/>
          </a:prstGeom>
        </p:spPr>
      </p:pic>
      <p:sp>
        <p:nvSpPr>
          <p:cNvPr id="8" name="Text 5"/>
          <p:cNvSpPr/>
          <p:nvPr/>
        </p:nvSpPr>
        <p:spPr>
          <a:xfrm>
            <a:off x="640080" y="3310128"/>
            <a:ext cx="1097280" cy="274320"/>
          </a:xfrm>
          <a:prstGeom prst="rect">
            <a:avLst/>
          </a:prstGeom>
          <a:noFill/>
          <a:ln/>
        </p:spPr>
        <p:txBody>
          <a:bodyPr wrap="square" lIns="0" tIns="0" rIns="0" bIns="0" rtlCol="0" anchor="ctr"/>
          <a:lstStyle/>
          <a:p>
            <a:pPr algn="ctr" indent="0" marL="0">
              <a:buNone/>
            </a:pPr>
            <a:r>
              <a:rPr lang="en-US" sz="1100" dirty="0">
                <a:solidFill>
                  <a:srgbClr val="8A93A6"/>
                </a:solidFill>
                <a:latin typeface="Calibri" pitchFamily="34" charset="0"/>
                <a:ea typeface="Calibri" pitchFamily="34" charset="-122"/>
                <a:cs typeface="Calibri" pitchFamily="34" charset="-120"/>
              </a:rPr>
              <a:t>Internet</a:t>
            </a:r>
            <a:endParaRPr lang="en-US" sz="1100" dirty="0"/>
          </a:p>
        </p:txBody>
      </p:sp>
      <p:sp>
        <p:nvSpPr>
          <p:cNvPr id="9" name="Shape 6"/>
          <p:cNvSpPr/>
          <p:nvPr/>
        </p:nvSpPr>
        <p:spPr>
          <a:xfrm>
            <a:off x="1554480" y="2926080"/>
            <a:ext cx="777240" cy="0"/>
          </a:xfrm>
          <a:prstGeom prst="line">
            <a:avLst/>
          </a:prstGeom>
          <a:noFill/>
          <a:ln w="25400">
            <a:solidFill>
              <a:srgbClr val="00B4D8"/>
            </a:solidFill>
            <a:prstDash val="solid"/>
          </a:ln>
        </p:spPr>
      </p:sp>
      <p:sp>
        <p:nvSpPr>
          <p:cNvPr id="10" name="Shape 7"/>
          <p:cNvSpPr/>
          <p:nvPr/>
        </p:nvSpPr>
        <p:spPr>
          <a:xfrm>
            <a:off x="2377440" y="2057400"/>
            <a:ext cx="2331720" cy="1828800"/>
          </a:xfrm>
          <a:prstGeom prst="roundRect">
            <a:avLst>
              <a:gd name="adj" fmla="val 6000"/>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1" name="Shape 8"/>
          <p:cNvSpPr/>
          <p:nvPr/>
        </p:nvSpPr>
        <p:spPr>
          <a:xfrm>
            <a:off x="2743200" y="2240280"/>
            <a:ext cx="548640" cy="548640"/>
          </a:xfrm>
          <a:prstGeom prst="ellipse">
            <a:avLst/>
          </a:prstGeom>
          <a:solidFill>
            <a:srgbClr val="13284A"/>
          </a:solidFill>
          <a:ln w="19050">
            <a:solidFill>
              <a:srgbClr val="00B4D8"/>
            </a:solidFill>
            <a:prstDash val="solid"/>
          </a:ln>
        </p:spPr>
      </p:sp>
      <p:pic>
        <p:nvPicPr>
          <p:cNvPr id="12" name="Image 1" descr="preencoded.png">    </p:cNvPr>
          <p:cNvPicPr>
            <a:picLocks noChangeAspect="1"/>
          </p:cNvPicPr>
          <p:nvPr/>
        </p:nvPicPr>
        <p:blipFill>
          <a:blip r:embed="rId2"/>
          <a:stretch>
            <a:fillRect/>
          </a:stretch>
        </p:blipFill>
        <p:spPr>
          <a:xfrm>
            <a:off x="2874874" y="2371954"/>
            <a:ext cx="285293" cy="285293"/>
          </a:xfrm>
          <a:prstGeom prst="rect">
            <a:avLst/>
          </a:prstGeom>
        </p:spPr>
      </p:pic>
      <p:sp>
        <p:nvSpPr>
          <p:cNvPr id="13" name="Text 9"/>
          <p:cNvSpPr/>
          <p:nvPr/>
        </p:nvSpPr>
        <p:spPr>
          <a:xfrm>
            <a:off x="2560320" y="2852928"/>
            <a:ext cx="1828800" cy="274320"/>
          </a:xfrm>
          <a:prstGeom prst="rect">
            <a:avLst/>
          </a:prstGeom>
          <a:noFill/>
          <a:ln/>
        </p:spPr>
        <p:txBody>
          <a:bodyPr wrap="square" lIns="0" tIns="0" rIns="0" bIns="0" rtlCol="0" anchor="ctr"/>
          <a:lstStyle/>
          <a:p>
            <a:pPr algn="ctr" indent="0" marL="0">
              <a:buNone/>
            </a:pPr>
            <a:r>
              <a:rPr lang="en-US" sz="1000" dirty="0">
                <a:solidFill>
                  <a:srgbClr val="8A93A6"/>
                </a:solidFill>
                <a:latin typeface="Calibri" pitchFamily="34" charset="0"/>
                <a:ea typeface="Calibri" pitchFamily="34" charset="-122"/>
                <a:cs typeface="Calibri" pitchFamily="34" charset="-120"/>
              </a:rPr>
              <a:t>Tier 1</a:t>
            </a:r>
            <a:endParaRPr lang="en-US" sz="1000" dirty="0"/>
          </a:p>
        </p:txBody>
      </p:sp>
      <p:sp>
        <p:nvSpPr>
          <p:cNvPr id="14" name="Text 10"/>
          <p:cNvSpPr/>
          <p:nvPr/>
        </p:nvSpPr>
        <p:spPr>
          <a:xfrm>
            <a:off x="2514600" y="3127248"/>
            <a:ext cx="20574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Application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Load Balancer</a:t>
            </a:r>
            <a:endParaRPr lang="en-US" sz="1300" dirty="0"/>
          </a:p>
        </p:txBody>
      </p:sp>
      <p:sp>
        <p:nvSpPr>
          <p:cNvPr id="15" name="Text 11"/>
          <p:cNvSpPr/>
          <p:nvPr/>
        </p:nvSpPr>
        <p:spPr>
          <a:xfrm>
            <a:off x="2468880" y="3657600"/>
            <a:ext cx="2148840" cy="182880"/>
          </a:xfrm>
          <a:prstGeom prst="rect">
            <a:avLst/>
          </a:prstGeom>
          <a:noFill/>
          <a:ln/>
        </p:spPr>
        <p:txBody>
          <a:bodyPr wrap="square" lIns="0" tIns="0" rIns="0" bIns="0" rtlCol="0" anchor="ctr"/>
          <a:lstStyle/>
          <a:p>
            <a:pPr algn="ctr" indent="0" marL="0">
              <a:buNone/>
            </a:pPr>
            <a:r>
              <a:rPr lang="en-US" sz="900" dirty="0">
                <a:solidFill>
                  <a:srgbClr val="8A93A6"/>
                </a:solidFill>
                <a:latin typeface="Calibri" pitchFamily="34" charset="0"/>
                <a:ea typeface="Calibri" pitchFamily="34" charset="-122"/>
                <a:cs typeface="Calibri" pitchFamily="34" charset="-120"/>
              </a:rPr>
              <a:t>Public Subnets · Health Checks</a:t>
            </a:r>
            <a:endParaRPr lang="en-US" sz="900" dirty="0"/>
          </a:p>
        </p:txBody>
      </p:sp>
      <p:sp>
        <p:nvSpPr>
          <p:cNvPr id="16" name="Shape 12"/>
          <p:cNvSpPr/>
          <p:nvPr/>
        </p:nvSpPr>
        <p:spPr>
          <a:xfrm>
            <a:off x="4709160" y="2926080"/>
            <a:ext cx="502920" cy="0"/>
          </a:xfrm>
          <a:prstGeom prst="line">
            <a:avLst/>
          </a:prstGeom>
          <a:noFill/>
          <a:ln w="25400">
            <a:solidFill>
              <a:srgbClr val="00B4D8"/>
            </a:solidFill>
            <a:prstDash val="solid"/>
          </a:ln>
        </p:spPr>
      </p:sp>
      <p:sp>
        <p:nvSpPr>
          <p:cNvPr id="17" name="Shape 13"/>
          <p:cNvSpPr/>
          <p:nvPr/>
        </p:nvSpPr>
        <p:spPr>
          <a:xfrm>
            <a:off x="5212080" y="1828800"/>
            <a:ext cx="2606040" cy="2286000"/>
          </a:xfrm>
          <a:prstGeom prst="roundRect">
            <a:avLst>
              <a:gd name="adj" fmla="val 4800"/>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8" name="Shape 14"/>
          <p:cNvSpPr/>
          <p:nvPr/>
        </p:nvSpPr>
        <p:spPr>
          <a:xfrm>
            <a:off x="5577840" y="2011680"/>
            <a:ext cx="548640" cy="548640"/>
          </a:xfrm>
          <a:prstGeom prst="ellipse">
            <a:avLst/>
          </a:prstGeom>
          <a:solidFill>
            <a:srgbClr val="13284A"/>
          </a:solidFill>
          <a:ln w="19050">
            <a:solidFill>
              <a:srgbClr val="00B4D8"/>
            </a:solidFill>
            <a:prstDash val="solid"/>
          </a:ln>
        </p:spPr>
      </p:sp>
      <p:pic>
        <p:nvPicPr>
          <p:cNvPr id="19" name="Image 2" descr="preencoded.png">    </p:cNvPr>
          <p:cNvPicPr>
            <a:picLocks noChangeAspect="1"/>
          </p:cNvPicPr>
          <p:nvPr/>
        </p:nvPicPr>
        <p:blipFill>
          <a:blip r:embed="rId3"/>
          <a:stretch>
            <a:fillRect/>
          </a:stretch>
        </p:blipFill>
        <p:spPr>
          <a:xfrm>
            <a:off x="5709514" y="2143354"/>
            <a:ext cx="285293" cy="285293"/>
          </a:xfrm>
          <a:prstGeom prst="rect">
            <a:avLst/>
          </a:prstGeom>
        </p:spPr>
      </p:pic>
      <p:sp>
        <p:nvSpPr>
          <p:cNvPr id="20" name="Text 15"/>
          <p:cNvSpPr/>
          <p:nvPr/>
        </p:nvSpPr>
        <p:spPr>
          <a:xfrm>
            <a:off x="5394960" y="2624328"/>
            <a:ext cx="2057400" cy="274320"/>
          </a:xfrm>
          <a:prstGeom prst="rect">
            <a:avLst/>
          </a:prstGeom>
          <a:noFill/>
          <a:ln/>
        </p:spPr>
        <p:txBody>
          <a:bodyPr wrap="square" lIns="0" tIns="0" rIns="0" bIns="0" rtlCol="0" anchor="ctr"/>
          <a:lstStyle/>
          <a:p>
            <a:pPr algn="ctr" indent="0" marL="0">
              <a:buNone/>
            </a:pPr>
            <a:r>
              <a:rPr lang="en-US" sz="1000" dirty="0">
                <a:solidFill>
                  <a:srgbClr val="8A93A6"/>
                </a:solidFill>
                <a:latin typeface="Calibri" pitchFamily="34" charset="0"/>
                <a:ea typeface="Calibri" pitchFamily="34" charset="-122"/>
                <a:cs typeface="Calibri" pitchFamily="34" charset="-120"/>
              </a:rPr>
              <a:t>Tier 2</a:t>
            </a:r>
            <a:endParaRPr lang="en-US" sz="1000" dirty="0"/>
          </a:p>
        </p:txBody>
      </p:sp>
      <p:sp>
        <p:nvSpPr>
          <p:cNvPr id="21" name="Text 16"/>
          <p:cNvSpPr/>
          <p:nvPr/>
        </p:nvSpPr>
        <p:spPr>
          <a:xfrm>
            <a:off x="5349240" y="2889504"/>
            <a:ext cx="23317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Auto Scaling Group</a:t>
            </a:r>
            <a:endParaRPr lang="en-US" sz="1300" dirty="0"/>
          </a:p>
        </p:txBody>
      </p:sp>
      <p:sp>
        <p:nvSpPr>
          <p:cNvPr id="22" name="Text 17"/>
          <p:cNvSpPr/>
          <p:nvPr/>
        </p:nvSpPr>
        <p:spPr>
          <a:xfrm>
            <a:off x="5349240" y="3246120"/>
            <a:ext cx="2331720" cy="502920"/>
          </a:xfrm>
          <a:prstGeom prst="rect">
            <a:avLst/>
          </a:prstGeom>
          <a:noFill/>
          <a:ln/>
        </p:spPr>
        <p:txBody>
          <a:bodyPr wrap="square" lIns="0" tIns="0" rIns="0" bIns="0" rtlCol="0" anchor="ctr"/>
          <a:lstStyle/>
          <a:p>
            <a:pPr algn="ctr" indent="0" marL="0">
              <a:buNone/>
            </a:pPr>
            <a:r>
              <a:rPr lang="en-US" sz="1000" dirty="0">
                <a:solidFill>
                  <a:srgbClr val="8A93A6"/>
                </a:solidFill>
                <a:latin typeface="Calibri" pitchFamily="34" charset="0"/>
                <a:ea typeface="Calibri" pitchFamily="34" charset="-122"/>
                <a:cs typeface="Calibri" pitchFamily="34" charset="-120"/>
              </a:rPr>
              <a:t>3-6 EC2 instances</a:t>
            </a:r>
            <a:endParaRPr lang="en-US" sz="1000" dirty="0"/>
          </a:p>
          <a:p>
            <a:pPr algn="ctr" indent="0" marL="0">
              <a:buNone/>
            </a:pPr>
            <a:r>
              <a:rPr lang="en-US" sz="1000" dirty="0">
                <a:solidFill>
                  <a:srgbClr val="8A93A6"/>
                </a:solidFill>
                <a:latin typeface="Calibri" pitchFamily="34" charset="0"/>
                <a:ea typeface="Calibri" pitchFamily="34" charset="-122"/>
                <a:cs typeface="Calibri" pitchFamily="34" charset="-120"/>
              </a:rPr>
              <a:t>Private App Subnets</a:t>
            </a:r>
            <a:endParaRPr lang="en-US" sz="1000" dirty="0"/>
          </a:p>
        </p:txBody>
      </p:sp>
      <p:sp>
        <p:nvSpPr>
          <p:cNvPr id="23" name="Shape 18"/>
          <p:cNvSpPr/>
          <p:nvPr/>
        </p:nvSpPr>
        <p:spPr>
          <a:xfrm>
            <a:off x="5440680" y="3749040"/>
            <a:ext cx="2148840" cy="274320"/>
          </a:xfrm>
          <a:prstGeom prst="roundRect">
            <a:avLst>
              <a:gd name="adj" fmla="val 50000"/>
            </a:avLst>
          </a:prstGeom>
          <a:solidFill>
            <a:srgbClr val="0B2A22"/>
          </a:solidFill>
          <a:ln w="9525">
            <a:solidFill>
              <a:srgbClr val="00FF88"/>
            </a:solidFill>
            <a:prstDash val="solid"/>
          </a:ln>
        </p:spPr>
      </p:sp>
      <p:sp>
        <p:nvSpPr>
          <p:cNvPr id="24" name="Text 19"/>
          <p:cNvSpPr/>
          <p:nvPr/>
        </p:nvSpPr>
        <p:spPr>
          <a:xfrm>
            <a:off x="5440680" y="3749040"/>
            <a:ext cx="2148840" cy="274320"/>
          </a:xfrm>
          <a:prstGeom prst="rect">
            <a:avLst/>
          </a:prstGeom>
          <a:noFill/>
          <a:ln/>
        </p:spPr>
        <p:txBody>
          <a:bodyPr wrap="square" lIns="0" tIns="0" rIns="0" bIns="0" rtlCol="0" anchor="ctr"/>
          <a:lstStyle/>
          <a:p>
            <a:pPr algn="ctr" indent="0" marL="0">
              <a:buNone/>
            </a:pPr>
            <a:r>
              <a:rPr lang="en-US" sz="900" dirty="0">
                <a:solidFill>
                  <a:srgbClr val="00FF88"/>
                </a:solidFill>
                <a:latin typeface="Calibri" pitchFamily="34" charset="0"/>
                <a:ea typeface="Calibri" pitchFamily="34" charset="-122"/>
                <a:cs typeface="Calibri" pitchFamily="34" charset="-120"/>
              </a:rPr>
              <a:t>IAM Role: least privilege</a:t>
            </a:r>
            <a:endParaRPr lang="en-US" sz="900" dirty="0"/>
          </a:p>
        </p:txBody>
      </p:sp>
      <p:sp>
        <p:nvSpPr>
          <p:cNvPr id="25" name="Shape 20"/>
          <p:cNvSpPr/>
          <p:nvPr/>
        </p:nvSpPr>
        <p:spPr>
          <a:xfrm>
            <a:off x="7818120" y="2926080"/>
            <a:ext cx="502920" cy="0"/>
          </a:xfrm>
          <a:prstGeom prst="line">
            <a:avLst/>
          </a:prstGeom>
          <a:noFill/>
          <a:ln w="25400">
            <a:solidFill>
              <a:srgbClr val="00B4D8"/>
            </a:solidFill>
            <a:prstDash val="solid"/>
          </a:ln>
        </p:spPr>
      </p:sp>
      <p:sp>
        <p:nvSpPr>
          <p:cNvPr id="26" name="Shape 21"/>
          <p:cNvSpPr/>
          <p:nvPr/>
        </p:nvSpPr>
        <p:spPr>
          <a:xfrm>
            <a:off x="8321040" y="2057400"/>
            <a:ext cx="2606040" cy="1828800"/>
          </a:xfrm>
          <a:prstGeom prst="roundRect">
            <a:avLst>
              <a:gd name="adj" fmla="val 6000"/>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27" name="Shape 22"/>
          <p:cNvSpPr/>
          <p:nvPr/>
        </p:nvSpPr>
        <p:spPr>
          <a:xfrm>
            <a:off x="8686800" y="2240280"/>
            <a:ext cx="548640" cy="548640"/>
          </a:xfrm>
          <a:prstGeom prst="ellipse">
            <a:avLst/>
          </a:prstGeom>
          <a:solidFill>
            <a:srgbClr val="13284A"/>
          </a:solidFill>
          <a:ln w="19050">
            <a:solidFill>
              <a:srgbClr val="00B4D8"/>
            </a:solidFill>
            <a:prstDash val="solid"/>
          </a:ln>
        </p:spPr>
      </p:sp>
      <p:pic>
        <p:nvPicPr>
          <p:cNvPr id="28" name="Image 3" descr="preencoded.png">    </p:cNvPr>
          <p:cNvPicPr>
            <a:picLocks noChangeAspect="1"/>
          </p:cNvPicPr>
          <p:nvPr/>
        </p:nvPicPr>
        <p:blipFill>
          <a:blip r:embed="rId4"/>
          <a:stretch>
            <a:fillRect/>
          </a:stretch>
        </p:blipFill>
        <p:spPr>
          <a:xfrm>
            <a:off x="8818474" y="2371954"/>
            <a:ext cx="285293" cy="285293"/>
          </a:xfrm>
          <a:prstGeom prst="rect">
            <a:avLst/>
          </a:prstGeom>
        </p:spPr>
      </p:pic>
      <p:sp>
        <p:nvSpPr>
          <p:cNvPr id="29" name="Text 23"/>
          <p:cNvSpPr/>
          <p:nvPr/>
        </p:nvSpPr>
        <p:spPr>
          <a:xfrm>
            <a:off x="8503920" y="2852928"/>
            <a:ext cx="2057400" cy="274320"/>
          </a:xfrm>
          <a:prstGeom prst="rect">
            <a:avLst/>
          </a:prstGeom>
          <a:noFill/>
          <a:ln/>
        </p:spPr>
        <p:txBody>
          <a:bodyPr wrap="square" lIns="0" tIns="0" rIns="0" bIns="0" rtlCol="0" anchor="ctr"/>
          <a:lstStyle/>
          <a:p>
            <a:pPr algn="ctr" indent="0" marL="0">
              <a:buNone/>
            </a:pPr>
            <a:r>
              <a:rPr lang="en-US" sz="1000" dirty="0">
                <a:solidFill>
                  <a:srgbClr val="8A93A6"/>
                </a:solidFill>
                <a:latin typeface="Calibri" pitchFamily="34" charset="0"/>
                <a:ea typeface="Calibri" pitchFamily="34" charset="-122"/>
                <a:cs typeface="Calibri" pitchFamily="34" charset="-120"/>
              </a:rPr>
              <a:t>Tier 3</a:t>
            </a:r>
            <a:endParaRPr lang="en-US" sz="1000" dirty="0"/>
          </a:p>
        </p:txBody>
      </p:sp>
      <p:sp>
        <p:nvSpPr>
          <p:cNvPr id="30" name="Text 24"/>
          <p:cNvSpPr/>
          <p:nvPr/>
        </p:nvSpPr>
        <p:spPr>
          <a:xfrm>
            <a:off x="8458200" y="3127248"/>
            <a:ext cx="23317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RDS PostgreSQL</a:t>
            </a:r>
            <a:endParaRPr lang="en-US" sz="1300" dirty="0"/>
          </a:p>
        </p:txBody>
      </p:sp>
      <p:sp>
        <p:nvSpPr>
          <p:cNvPr id="31" name="Text 25"/>
          <p:cNvSpPr/>
          <p:nvPr/>
        </p:nvSpPr>
        <p:spPr>
          <a:xfrm>
            <a:off x="8458200" y="3456432"/>
            <a:ext cx="2331720" cy="384048"/>
          </a:xfrm>
          <a:prstGeom prst="rect">
            <a:avLst/>
          </a:prstGeom>
          <a:noFill/>
          <a:ln/>
        </p:spPr>
        <p:txBody>
          <a:bodyPr wrap="square" lIns="0" tIns="0" rIns="0" bIns="0" rtlCol="0" anchor="ctr"/>
          <a:lstStyle/>
          <a:p>
            <a:pPr algn="ctr" indent="0" marL="0">
              <a:buNone/>
            </a:pPr>
            <a:r>
              <a:rPr lang="en-US" sz="900" dirty="0">
                <a:solidFill>
                  <a:srgbClr val="8A93A6"/>
                </a:solidFill>
                <a:latin typeface="Calibri" pitchFamily="34" charset="0"/>
                <a:ea typeface="Calibri" pitchFamily="34" charset="-122"/>
                <a:cs typeface="Calibri" pitchFamily="34" charset="-120"/>
              </a:rPr>
              <a:t>Encrypted · Private Data Subnets</a:t>
            </a:r>
            <a:endParaRPr lang="en-US" sz="900" dirty="0"/>
          </a:p>
          <a:p>
            <a:pPr algn="ctr" indent="0" marL="0">
              <a:buNone/>
            </a:pPr>
            <a:r>
              <a:rPr lang="en-US" sz="900" dirty="0">
                <a:solidFill>
                  <a:srgbClr val="8A93A6"/>
                </a:solidFill>
                <a:latin typeface="Calibri" pitchFamily="34" charset="0"/>
                <a:ea typeface="Calibri" pitchFamily="34" charset="-122"/>
                <a:cs typeface="Calibri" pitchFamily="34" charset="-120"/>
              </a:rPr>
              <a:t>No internet route</a:t>
            </a:r>
            <a:endParaRPr lang="en-US" sz="900" dirty="0"/>
          </a:p>
        </p:txBody>
      </p:sp>
      <p:sp>
        <p:nvSpPr>
          <p:cNvPr id="32" name="Shape 26"/>
          <p:cNvSpPr/>
          <p:nvPr/>
        </p:nvSpPr>
        <p:spPr>
          <a:xfrm>
            <a:off x="6492240" y="4114800"/>
            <a:ext cx="0" cy="502920"/>
          </a:xfrm>
          <a:prstGeom prst="line">
            <a:avLst/>
          </a:prstGeom>
          <a:noFill/>
          <a:ln w="19050">
            <a:solidFill>
              <a:srgbClr val="00FF88"/>
            </a:solidFill>
            <a:prstDash val="dash"/>
          </a:ln>
        </p:spPr>
      </p:sp>
      <p:sp>
        <p:nvSpPr>
          <p:cNvPr id="33" name="Shape 27"/>
          <p:cNvSpPr/>
          <p:nvPr/>
        </p:nvSpPr>
        <p:spPr>
          <a:xfrm>
            <a:off x="5897880" y="4663440"/>
            <a:ext cx="502920" cy="502920"/>
          </a:xfrm>
          <a:prstGeom prst="ellipse">
            <a:avLst/>
          </a:prstGeom>
          <a:solidFill>
            <a:srgbClr val="13284A"/>
          </a:solidFill>
          <a:ln w="19050">
            <a:solidFill>
              <a:srgbClr val="00FF88"/>
            </a:solidFill>
            <a:prstDash val="solid"/>
          </a:ln>
        </p:spPr>
      </p:sp>
      <p:pic>
        <p:nvPicPr>
          <p:cNvPr id="34" name="Image 4" descr="preencoded.png">    </p:cNvPr>
          <p:cNvPicPr>
            <a:picLocks noChangeAspect="1"/>
          </p:cNvPicPr>
          <p:nvPr/>
        </p:nvPicPr>
        <p:blipFill>
          <a:blip r:embed="rId5"/>
          <a:stretch>
            <a:fillRect/>
          </a:stretch>
        </p:blipFill>
        <p:spPr>
          <a:xfrm>
            <a:off x="6018581" y="4784141"/>
            <a:ext cx="261518" cy="261518"/>
          </a:xfrm>
          <a:prstGeom prst="rect">
            <a:avLst/>
          </a:prstGeom>
        </p:spPr>
      </p:pic>
      <p:sp>
        <p:nvSpPr>
          <p:cNvPr id="35" name="Text 28"/>
          <p:cNvSpPr/>
          <p:nvPr/>
        </p:nvSpPr>
        <p:spPr>
          <a:xfrm>
            <a:off x="6492240" y="4736592"/>
            <a:ext cx="4297680" cy="502920"/>
          </a:xfrm>
          <a:prstGeom prst="rect">
            <a:avLst/>
          </a:prstGeom>
          <a:noFill/>
          <a:ln/>
        </p:spPr>
        <p:txBody>
          <a:bodyPr wrap="square" lIns="0" tIns="0" rIns="0" bIns="0" rtlCol="0" anchor="ctr"/>
          <a:lstStyle/>
          <a:p>
            <a:pPr indent="0" marL="0">
              <a:buNone/>
            </a:pPr>
            <a:r>
              <a:rPr lang="en-US" sz="1100" dirty="0">
                <a:solidFill>
                  <a:srgbClr val="C7CEDC"/>
                </a:solidFill>
                <a:latin typeface="Calibri" pitchFamily="34" charset="0"/>
                <a:ea typeface="Calibri" pitchFamily="34" charset="-122"/>
                <a:cs typeface="Calibri" pitchFamily="34" charset="-120"/>
              </a:rPr>
              <a:t>AWS Secrets Manager</a:t>
            </a:r>
            <a:endParaRPr lang="en-US" sz="1100" dirty="0"/>
          </a:p>
          <a:p>
            <a:pPr indent="0" marL="0">
              <a:buNone/>
            </a:pPr>
            <a:r>
              <a:rPr lang="en-US" sz="1100" dirty="0">
                <a:solidFill>
                  <a:srgbClr val="C7CEDC"/>
                </a:solidFill>
                <a:latin typeface="Calibri" pitchFamily="34" charset="0"/>
                <a:ea typeface="Calibri" pitchFamily="34" charset="-122"/>
                <a:cs typeface="Calibri" pitchFamily="34" charset="-120"/>
              </a:rPr>
              <a:t>(DB credentials, zero hardcoding)</a:t>
            </a:r>
            <a:endParaRPr lang="en-US" sz="1100" dirty="0"/>
          </a:p>
        </p:txBody>
      </p:sp>
      <p:sp>
        <p:nvSpPr>
          <p:cNvPr id="36" name="Shape 29"/>
          <p:cNvSpPr/>
          <p:nvPr/>
        </p:nvSpPr>
        <p:spPr>
          <a:xfrm>
            <a:off x="868680" y="5715000"/>
            <a:ext cx="2606040" cy="502920"/>
          </a:xfrm>
          <a:prstGeom prst="roundRect">
            <a:avLst>
              <a:gd name="adj" fmla="val 18182"/>
            </a:avLst>
          </a:prstGeom>
          <a:solidFill>
            <a:srgbClr val="0F1C33"/>
          </a:solidFill>
          <a:ln w="12700">
            <a:solidFill>
              <a:srgbClr val="27406B"/>
            </a:solidFill>
            <a:prstDash val="solid"/>
          </a:ln>
        </p:spPr>
      </p:sp>
      <p:sp>
        <p:nvSpPr>
          <p:cNvPr id="37" name="Text 30"/>
          <p:cNvSpPr/>
          <p:nvPr/>
        </p:nvSpPr>
        <p:spPr>
          <a:xfrm>
            <a:off x="868680" y="5715000"/>
            <a:ext cx="2606040" cy="502920"/>
          </a:xfrm>
          <a:prstGeom prst="rect">
            <a:avLst/>
          </a:prstGeom>
          <a:noFill/>
          <a:ln/>
        </p:spPr>
        <p:txBody>
          <a:bodyPr wrap="square" lIns="0" tIns="0" rIns="0" bIns="0" rtlCol="0" anchor="ctr"/>
          <a:lstStyle/>
          <a:p>
            <a:pPr algn="ctr" indent="0" marL="0">
              <a:buNone/>
            </a:pPr>
            <a:r>
              <a:rPr lang="en-US" sz="1050" dirty="0">
                <a:solidFill>
                  <a:srgbClr val="C7CEDC"/>
                </a:solidFill>
                <a:latin typeface="Calibri" pitchFamily="34" charset="0"/>
                <a:ea typeface="Calibri" pitchFamily="34" charset="-122"/>
                <a:cs typeface="Calibri" pitchFamily="34" charset="-120"/>
              </a:rPr>
              <a:t>CloudWatch Dashboard + Alarms</a:t>
            </a:r>
            <a:endParaRPr lang="en-US" sz="1050" dirty="0"/>
          </a:p>
        </p:txBody>
      </p:sp>
      <p:sp>
        <p:nvSpPr>
          <p:cNvPr id="38" name="Shape 31"/>
          <p:cNvSpPr/>
          <p:nvPr/>
        </p:nvSpPr>
        <p:spPr>
          <a:xfrm>
            <a:off x="3639312" y="5715000"/>
            <a:ext cx="2606040" cy="502920"/>
          </a:xfrm>
          <a:prstGeom prst="roundRect">
            <a:avLst>
              <a:gd name="adj" fmla="val 18182"/>
            </a:avLst>
          </a:prstGeom>
          <a:solidFill>
            <a:srgbClr val="0F1C33"/>
          </a:solidFill>
          <a:ln w="12700">
            <a:solidFill>
              <a:srgbClr val="27406B"/>
            </a:solidFill>
            <a:prstDash val="solid"/>
          </a:ln>
        </p:spPr>
      </p:sp>
      <p:sp>
        <p:nvSpPr>
          <p:cNvPr id="39" name="Text 32"/>
          <p:cNvSpPr/>
          <p:nvPr/>
        </p:nvSpPr>
        <p:spPr>
          <a:xfrm>
            <a:off x="3639312" y="5715000"/>
            <a:ext cx="2606040" cy="502920"/>
          </a:xfrm>
          <a:prstGeom prst="rect">
            <a:avLst/>
          </a:prstGeom>
          <a:noFill/>
          <a:ln/>
        </p:spPr>
        <p:txBody>
          <a:bodyPr wrap="square" lIns="0" tIns="0" rIns="0" bIns="0" rtlCol="0" anchor="ctr"/>
          <a:lstStyle/>
          <a:p>
            <a:pPr algn="ctr" indent="0" marL="0">
              <a:buNone/>
            </a:pPr>
            <a:r>
              <a:rPr lang="en-US" sz="1050" dirty="0">
                <a:solidFill>
                  <a:srgbClr val="C7CEDC"/>
                </a:solidFill>
                <a:latin typeface="Calibri" pitchFamily="34" charset="0"/>
                <a:ea typeface="Calibri" pitchFamily="34" charset="-122"/>
                <a:cs typeface="Calibri" pitchFamily="34" charset="-120"/>
              </a:rPr>
              <a:t>VPC Flow Logs</a:t>
            </a:r>
            <a:endParaRPr lang="en-US" sz="1050" dirty="0"/>
          </a:p>
        </p:txBody>
      </p:sp>
      <p:sp>
        <p:nvSpPr>
          <p:cNvPr id="40" name="Shape 33"/>
          <p:cNvSpPr/>
          <p:nvPr/>
        </p:nvSpPr>
        <p:spPr>
          <a:xfrm>
            <a:off x="6409944" y="5715000"/>
            <a:ext cx="2606040" cy="502920"/>
          </a:xfrm>
          <a:prstGeom prst="roundRect">
            <a:avLst>
              <a:gd name="adj" fmla="val 18182"/>
            </a:avLst>
          </a:prstGeom>
          <a:solidFill>
            <a:srgbClr val="0F1C33"/>
          </a:solidFill>
          <a:ln w="12700">
            <a:solidFill>
              <a:srgbClr val="27406B"/>
            </a:solidFill>
            <a:prstDash val="solid"/>
          </a:ln>
        </p:spPr>
      </p:sp>
      <p:sp>
        <p:nvSpPr>
          <p:cNvPr id="41" name="Text 34"/>
          <p:cNvSpPr/>
          <p:nvPr/>
        </p:nvSpPr>
        <p:spPr>
          <a:xfrm>
            <a:off x="6409944" y="5715000"/>
            <a:ext cx="2606040" cy="502920"/>
          </a:xfrm>
          <a:prstGeom prst="rect">
            <a:avLst/>
          </a:prstGeom>
          <a:noFill/>
          <a:ln/>
        </p:spPr>
        <p:txBody>
          <a:bodyPr wrap="square" lIns="0" tIns="0" rIns="0" bIns="0" rtlCol="0" anchor="ctr"/>
          <a:lstStyle/>
          <a:p>
            <a:pPr algn="ctr" indent="0" marL="0">
              <a:buNone/>
            </a:pPr>
            <a:r>
              <a:rPr lang="en-US" sz="1050" dirty="0">
                <a:solidFill>
                  <a:srgbClr val="C7CEDC"/>
                </a:solidFill>
                <a:latin typeface="Calibri" pitchFamily="34" charset="0"/>
                <a:ea typeface="Calibri" pitchFamily="34" charset="-122"/>
                <a:cs typeface="Calibri" pitchFamily="34" charset="-120"/>
              </a:rPr>
              <a:t>CloudTrail (multi-region)</a:t>
            </a:r>
            <a:endParaRPr lang="en-US" sz="1050" dirty="0"/>
          </a:p>
        </p:txBody>
      </p:sp>
      <p:sp>
        <p:nvSpPr>
          <p:cNvPr id="42" name="Shape 35"/>
          <p:cNvSpPr/>
          <p:nvPr/>
        </p:nvSpPr>
        <p:spPr>
          <a:xfrm>
            <a:off x="9180576" y="5715000"/>
            <a:ext cx="2606040" cy="502920"/>
          </a:xfrm>
          <a:prstGeom prst="roundRect">
            <a:avLst>
              <a:gd name="adj" fmla="val 18182"/>
            </a:avLst>
          </a:prstGeom>
          <a:solidFill>
            <a:srgbClr val="0F1C33"/>
          </a:solidFill>
          <a:ln w="12700">
            <a:solidFill>
              <a:srgbClr val="27406B"/>
            </a:solidFill>
            <a:prstDash val="solid"/>
          </a:ln>
        </p:spPr>
      </p:sp>
      <p:sp>
        <p:nvSpPr>
          <p:cNvPr id="43" name="Text 36"/>
          <p:cNvSpPr/>
          <p:nvPr/>
        </p:nvSpPr>
        <p:spPr>
          <a:xfrm>
            <a:off x="9180576" y="5715000"/>
            <a:ext cx="2606040" cy="502920"/>
          </a:xfrm>
          <a:prstGeom prst="rect">
            <a:avLst/>
          </a:prstGeom>
          <a:noFill/>
          <a:ln/>
        </p:spPr>
        <p:txBody>
          <a:bodyPr wrap="square" lIns="0" tIns="0" rIns="0" bIns="0" rtlCol="0" anchor="ctr"/>
          <a:lstStyle/>
          <a:p>
            <a:pPr algn="ctr" indent="0" marL="0">
              <a:buNone/>
            </a:pPr>
            <a:r>
              <a:rPr lang="en-US" sz="1050" dirty="0">
                <a:solidFill>
                  <a:srgbClr val="C7CEDC"/>
                </a:solidFill>
                <a:latin typeface="Calibri" pitchFamily="34" charset="0"/>
                <a:ea typeface="Calibri" pitchFamily="34" charset="-122"/>
                <a:cs typeface="Calibri" pitchFamily="34" charset="-120"/>
              </a:rPr>
              <a:t>Security Hub (CIS)</a:t>
            </a:r>
            <a:endParaRPr lang="en-US" sz="1050" dirty="0"/>
          </a:p>
        </p:txBody>
      </p:sp>
      <p:sp>
        <p:nvSpPr>
          <p:cNvPr id="44" name="Text 37"/>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4</a:t>
            </a:r>
            <a:endParaRPr lang="en-US" sz="1000" dirty="0"/>
          </a:p>
        </p:txBody>
      </p:sp>
      <p:sp>
        <p:nvSpPr>
          <p:cNvPr id="45" name="Text 38"/>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3A6"/>
                </a:solidFill>
                <a:latin typeface="Calibri" pitchFamily="34" charset="0"/>
                <a:ea typeface="Calibri" pitchFamily="34" charset="-122"/>
                <a:cs typeface="Calibri" pitchFamily="34" charset="-120"/>
              </a:rPr>
              <a:t>VaultPay Platform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Request Lifecycle: From Click to Database</a:t>
            </a:r>
            <a:endParaRPr lang="en-US" sz="3000" dirty="0"/>
          </a:p>
        </p:txBody>
      </p:sp>
      <p:sp>
        <p:nvSpPr>
          <p:cNvPr id="4" name="Shape 2"/>
          <p:cNvSpPr/>
          <p:nvPr/>
        </p:nvSpPr>
        <p:spPr>
          <a:xfrm>
            <a:off x="548640" y="1965960"/>
            <a:ext cx="2084832" cy="3749040"/>
          </a:xfrm>
          <a:prstGeom prst="roundRect">
            <a:avLst>
              <a:gd name="adj" fmla="val 5263"/>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1298448" y="2194560"/>
            <a:ext cx="585216" cy="585216"/>
          </a:xfrm>
          <a:prstGeom prst="ellipse">
            <a:avLst/>
          </a:prstGeom>
          <a:solidFill>
            <a:srgbClr val="00B4D8"/>
          </a:solidFill>
          <a:ln/>
        </p:spPr>
      </p:sp>
      <p:sp>
        <p:nvSpPr>
          <p:cNvPr id="6" name="Text 4"/>
          <p:cNvSpPr/>
          <p:nvPr/>
        </p:nvSpPr>
        <p:spPr>
          <a:xfrm>
            <a:off x="1298448" y="2194560"/>
            <a:ext cx="585216" cy="585216"/>
          </a:xfrm>
          <a:prstGeom prst="rect">
            <a:avLst/>
          </a:prstGeom>
          <a:noFill/>
          <a:ln/>
        </p:spPr>
        <p:txBody>
          <a:bodyPr wrap="square" lIns="0" tIns="0" rIns="0" bIns="0" rtlCol="0" anchor="ctr"/>
          <a:lstStyle/>
          <a:p>
            <a:pPr algn="ctr" indent="0" marL="0">
              <a:buNone/>
            </a:pPr>
            <a:r>
              <a:rPr lang="en-US" sz="2200" b="1" dirty="0">
                <a:solidFill>
                  <a:srgbClr val="0F1626"/>
                </a:solidFill>
                <a:latin typeface="Cambria" pitchFamily="34" charset="0"/>
                <a:ea typeface="Cambria" pitchFamily="34" charset="-122"/>
                <a:cs typeface="Cambria" pitchFamily="34" charset="-120"/>
              </a:rPr>
              <a:t>1</a:t>
            </a:r>
            <a:endParaRPr lang="en-US" sz="2200" dirty="0"/>
          </a:p>
        </p:txBody>
      </p:sp>
      <p:sp>
        <p:nvSpPr>
          <p:cNvPr id="7" name="Shape 5"/>
          <p:cNvSpPr/>
          <p:nvPr/>
        </p:nvSpPr>
        <p:spPr>
          <a:xfrm>
            <a:off x="1225296" y="3017520"/>
            <a:ext cx="731520" cy="731520"/>
          </a:xfrm>
          <a:prstGeom prst="ellipse">
            <a:avLst/>
          </a:prstGeom>
          <a:solidFill>
            <a:srgbClr val="13284A"/>
          </a:solidFill>
          <a:ln w="19050">
            <a:solidFill>
              <a:srgbClr val="00B4D8"/>
            </a:solidFill>
            <a:prstDash val="solid"/>
          </a:ln>
        </p:spPr>
      </p:sp>
      <p:pic>
        <p:nvPicPr>
          <p:cNvPr id="8" name="Image 0" descr="preencoded.png">    </p:cNvPr>
          <p:cNvPicPr>
            <a:picLocks noChangeAspect="1"/>
          </p:cNvPicPr>
          <p:nvPr/>
        </p:nvPicPr>
        <p:blipFill>
          <a:blip r:embed="rId1"/>
          <a:stretch>
            <a:fillRect/>
          </a:stretch>
        </p:blipFill>
        <p:spPr>
          <a:xfrm>
            <a:off x="1400861" y="3193085"/>
            <a:ext cx="380390" cy="380390"/>
          </a:xfrm>
          <a:prstGeom prst="rect">
            <a:avLst/>
          </a:prstGeom>
        </p:spPr>
      </p:pic>
      <p:sp>
        <p:nvSpPr>
          <p:cNvPr id="9" name="Text 6"/>
          <p:cNvSpPr/>
          <p:nvPr/>
        </p:nvSpPr>
        <p:spPr>
          <a:xfrm>
            <a:off x="685800" y="3931920"/>
            <a:ext cx="1810512"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User Request</a:t>
            </a:r>
            <a:endParaRPr lang="en-US" sz="1350" dirty="0"/>
          </a:p>
        </p:txBody>
      </p:sp>
      <p:sp>
        <p:nvSpPr>
          <p:cNvPr id="10" name="Text 7"/>
          <p:cNvSpPr/>
          <p:nvPr/>
        </p:nvSpPr>
        <p:spPr>
          <a:xfrm>
            <a:off x="713232" y="4434840"/>
            <a:ext cx="1755648" cy="1188720"/>
          </a:xfrm>
          <a:prstGeom prst="rect">
            <a:avLst/>
          </a:prstGeom>
          <a:noFill/>
          <a:ln/>
        </p:spPr>
        <p:txBody>
          <a:bodyPr wrap="square" lIns="0" tIns="0" rIns="0" bIns="0" rtlCol="0" anchor="ctr"/>
          <a:lstStyle/>
          <a:p>
            <a:pPr algn="ctr" indent="0" marL="0">
              <a:buNone/>
            </a:pPr>
            <a:r>
              <a:rPr lang="en-US" sz="1050" dirty="0">
                <a:solidFill>
                  <a:srgbClr val="8A93A6"/>
                </a:solidFill>
                <a:latin typeface="Calibri" pitchFamily="34" charset="0"/>
                <a:ea typeface="Calibri" pitchFamily="34" charset="-122"/>
                <a:cs typeface="Calibri" pitchFamily="34" charset="-120"/>
              </a:rPr>
              <a:t>Browser sends HTTP request to the ALB's public DNS endpoint</a:t>
            </a:r>
            <a:endParaRPr lang="en-US" sz="1050" dirty="0"/>
          </a:p>
        </p:txBody>
      </p:sp>
      <p:sp>
        <p:nvSpPr>
          <p:cNvPr id="11" name="Shape 8"/>
          <p:cNvSpPr/>
          <p:nvPr/>
        </p:nvSpPr>
        <p:spPr>
          <a:xfrm>
            <a:off x="2651760" y="3840480"/>
            <a:ext cx="128016" cy="0"/>
          </a:xfrm>
          <a:prstGeom prst="line">
            <a:avLst/>
          </a:prstGeom>
          <a:noFill/>
          <a:ln w="25400">
            <a:solidFill>
              <a:srgbClr val="00B4D8"/>
            </a:solidFill>
            <a:prstDash val="solid"/>
          </a:ln>
        </p:spPr>
      </p:sp>
      <p:sp>
        <p:nvSpPr>
          <p:cNvPr id="12" name="Shape 9"/>
          <p:cNvSpPr/>
          <p:nvPr/>
        </p:nvSpPr>
        <p:spPr>
          <a:xfrm>
            <a:off x="2798064" y="1965960"/>
            <a:ext cx="2084832" cy="3749040"/>
          </a:xfrm>
          <a:prstGeom prst="roundRect">
            <a:avLst>
              <a:gd name="adj" fmla="val 5263"/>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3" name="Shape 10"/>
          <p:cNvSpPr/>
          <p:nvPr/>
        </p:nvSpPr>
        <p:spPr>
          <a:xfrm>
            <a:off x="3547872" y="2194560"/>
            <a:ext cx="585216" cy="585216"/>
          </a:xfrm>
          <a:prstGeom prst="ellipse">
            <a:avLst/>
          </a:prstGeom>
          <a:solidFill>
            <a:srgbClr val="00B4D8"/>
          </a:solidFill>
          <a:ln/>
        </p:spPr>
      </p:sp>
      <p:sp>
        <p:nvSpPr>
          <p:cNvPr id="14" name="Text 11"/>
          <p:cNvSpPr/>
          <p:nvPr/>
        </p:nvSpPr>
        <p:spPr>
          <a:xfrm>
            <a:off x="3547872" y="2194560"/>
            <a:ext cx="585216" cy="585216"/>
          </a:xfrm>
          <a:prstGeom prst="rect">
            <a:avLst/>
          </a:prstGeom>
          <a:noFill/>
          <a:ln/>
        </p:spPr>
        <p:txBody>
          <a:bodyPr wrap="square" lIns="0" tIns="0" rIns="0" bIns="0" rtlCol="0" anchor="ctr"/>
          <a:lstStyle/>
          <a:p>
            <a:pPr algn="ctr" indent="0" marL="0">
              <a:buNone/>
            </a:pPr>
            <a:r>
              <a:rPr lang="en-US" sz="2200" b="1" dirty="0">
                <a:solidFill>
                  <a:srgbClr val="0F1626"/>
                </a:solidFill>
                <a:latin typeface="Cambria" pitchFamily="34" charset="0"/>
                <a:ea typeface="Cambria" pitchFamily="34" charset="-122"/>
                <a:cs typeface="Cambria" pitchFamily="34" charset="-120"/>
              </a:rPr>
              <a:t>2</a:t>
            </a:r>
            <a:endParaRPr lang="en-US" sz="2200" dirty="0"/>
          </a:p>
        </p:txBody>
      </p:sp>
      <p:sp>
        <p:nvSpPr>
          <p:cNvPr id="15" name="Shape 12"/>
          <p:cNvSpPr/>
          <p:nvPr/>
        </p:nvSpPr>
        <p:spPr>
          <a:xfrm>
            <a:off x="3474720" y="3017520"/>
            <a:ext cx="731520" cy="731520"/>
          </a:xfrm>
          <a:prstGeom prst="ellipse">
            <a:avLst/>
          </a:prstGeom>
          <a:solidFill>
            <a:srgbClr val="13284A"/>
          </a:solidFill>
          <a:ln w="19050">
            <a:solidFill>
              <a:srgbClr val="00B4D8"/>
            </a:solidFill>
            <a:prstDash val="solid"/>
          </a:ln>
        </p:spPr>
      </p:sp>
      <p:pic>
        <p:nvPicPr>
          <p:cNvPr id="16" name="Image 1" descr="preencoded.png">    </p:cNvPr>
          <p:cNvPicPr>
            <a:picLocks noChangeAspect="1"/>
          </p:cNvPicPr>
          <p:nvPr/>
        </p:nvPicPr>
        <p:blipFill>
          <a:blip r:embed="rId2"/>
          <a:stretch>
            <a:fillRect/>
          </a:stretch>
        </p:blipFill>
        <p:spPr>
          <a:xfrm>
            <a:off x="3650285" y="3193085"/>
            <a:ext cx="380390" cy="380390"/>
          </a:xfrm>
          <a:prstGeom prst="rect">
            <a:avLst/>
          </a:prstGeom>
        </p:spPr>
      </p:pic>
      <p:sp>
        <p:nvSpPr>
          <p:cNvPr id="17" name="Text 13"/>
          <p:cNvSpPr/>
          <p:nvPr/>
        </p:nvSpPr>
        <p:spPr>
          <a:xfrm>
            <a:off x="2935224" y="3931920"/>
            <a:ext cx="1810512"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Load Balancing</a:t>
            </a:r>
            <a:endParaRPr lang="en-US" sz="1350" dirty="0"/>
          </a:p>
        </p:txBody>
      </p:sp>
      <p:sp>
        <p:nvSpPr>
          <p:cNvPr id="18" name="Text 14"/>
          <p:cNvSpPr/>
          <p:nvPr/>
        </p:nvSpPr>
        <p:spPr>
          <a:xfrm>
            <a:off x="2962656" y="4434840"/>
            <a:ext cx="1755648" cy="1188720"/>
          </a:xfrm>
          <a:prstGeom prst="rect">
            <a:avLst/>
          </a:prstGeom>
          <a:noFill/>
          <a:ln/>
        </p:spPr>
        <p:txBody>
          <a:bodyPr wrap="square" lIns="0" tIns="0" rIns="0" bIns="0" rtlCol="0" anchor="ctr"/>
          <a:lstStyle/>
          <a:p>
            <a:pPr algn="ctr" indent="0" marL="0">
              <a:buNone/>
            </a:pPr>
            <a:r>
              <a:rPr lang="en-US" sz="1050" dirty="0">
                <a:solidFill>
                  <a:srgbClr val="8A93A6"/>
                </a:solidFill>
                <a:latin typeface="Calibri" pitchFamily="34" charset="0"/>
                <a:ea typeface="Calibri" pitchFamily="34" charset="-122"/>
                <a:cs typeface="Calibri" pitchFamily="34" charset="-120"/>
              </a:rPr>
              <a:t>ALB checks /health and forwards traffic to a healthy EC2 instance</a:t>
            </a:r>
            <a:endParaRPr lang="en-US" sz="1050" dirty="0"/>
          </a:p>
        </p:txBody>
      </p:sp>
      <p:sp>
        <p:nvSpPr>
          <p:cNvPr id="19" name="Shape 15"/>
          <p:cNvSpPr/>
          <p:nvPr/>
        </p:nvSpPr>
        <p:spPr>
          <a:xfrm>
            <a:off x="4901184" y="3840480"/>
            <a:ext cx="128016" cy="0"/>
          </a:xfrm>
          <a:prstGeom prst="line">
            <a:avLst/>
          </a:prstGeom>
          <a:noFill/>
          <a:ln w="25400">
            <a:solidFill>
              <a:srgbClr val="00B4D8"/>
            </a:solidFill>
            <a:prstDash val="solid"/>
          </a:ln>
        </p:spPr>
      </p:sp>
      <p:sp>
        <p:nvSpPr>
          <p:cNvPr id="20" name="Shape 16"/>
          <p:cNvSpPr/>
          <p:nvPr/>
        </p:nvSpPr>
        <p:spPr>
          <a:xfrm>
            <a:off x="5047488" y="1965960"/>
            <a:ext cx="2084832" cy="3749040"/>
          </a:xfrm>
          <a:prstGeom prst="roundRect">
            <a:avLst>
              <a:gd name="adj" fmla="val 5263"/>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21" name="Shape 17"/>
          <p:cNvSpPr/>
          <p:nvPr/>
        </p:nvSpPr>
        <p:spPr>
          <a:xfrm>
            <a:off x="5797296" y="2194560"/>
            <a:ext cx="585216" cy="585216"/>
          </a:xfrm>
          <a:prstGeom prst="ellipse">
            <a:avLst/>
          </a:prstGeom>
          <a:solidFill>
            <a:srgbClr val="00B4D8"/>
          </a:solidFill>
          <a:ln/>
        </p:spPr>
      </p:sp>
      <p:sp>
        <p:nvSpPr>
          <p:cNvPr id="22" name="Text 18"/>
          <p:cNvSpPr/>
          <p:nvPr/>
        </p:nvSpPr>
        <p:spPr>
          <a:xfrm>
            <a:off x="5797296" y="2194560"/>
            <a:ext cx="585216" cy="585216"/>
          </a:xfrm>
          <a:prstGeom prst="rect">
            <a:avLst/>
          </a:prstGeom>
          <a:noFill/>
          <a:ln/>
        </p:spPr>
        <p:txBody>
          <a:bodyPr wrap="square" lIns="0" tIns="0" rIns="0" bIns="0" rtlCol="0" anchor="ctr"/>
          <a:lstStyle/>
          <a:p>
            <a:pPr algn="ctr" indent="0" marL="0">
              <a:buNone/>
            </a:pPr>
            <a:r>
              <a:rPr lang="en-US" sz="2200" b="1" dirty="0">
                <a:solidFill>
                  <a:srgbClr val="0F1626"/>
                </a:solidFill>
                <a:latin typeface="Cambria" pitchFamily="34" charset="0"/>
                <a:ea typeface="Cambria" pitchFamily="34" charset="-122"/>
                <a:cs typeface="Cambria" pitchFamily="34" charset="-120"/>
              </a:rPr>
              <a:t>3</a:t>
            </a:r>
            <a:endParaRPr lang="en-US" sz="2200" dirty="0"/>
          </a:p>
        </p:txBody>
      </p:sp>
      <p:sp>
        <p:nvSpPr>
          <p:cNvPr id="23" name="Shape 19"/>
          <p:cNvSpPr/>
          <p:nvPr/>
        </p:nvSpPr>
        <p:spPr>
          <a:xfrm>
            <a:off x="5724144" y="3017520"/>
            <a:ext cx="731520" cy="731520"/>
          </a:xfrm>
          <a:prstGeom prst="ellipse">
            <a:avLst/>
          </a:prstGeom>
          <a:solidFill>
            <a:srgbClr val="13284A"/>
          </a:solidFill>
          <a:ln w="19050">
            <a:solidFill>
              <a:srgbClr val="00B4D8"/>
            </a:solidFill>
            <a:prstDash val="solid"/>
          </a:ln>
        </p:spPr>
      </p:sp>
      <p:pic>
        <p:nvPicPr>
          <p:cNvPr id="24" name="Image 2" descr="preencoded.png">    </p:cNvPr>
          <p:cNvPicPr>
            <a:picLocks noChangeAspect="1"/>
          </p:cNvPicPr>
          <p:nvPr/>
        </p:nvPicPr>
        <p:blipFill>
          <a:blip r:embed="rId3"/>
          <a:stretch>
            <a:fillRect/>
          </a:stretch>
        </p:blipFill>
        <p:spPr>
          <a:xfrm>
            <a:off x="5899709" y="3193085"/>
            <a:ext cx="380390" cy="380390"/>
          </a:xfrm>
          <a:prstGeom prst="rect">
            <a:avLst/>
          </a:prstGeom>
        </p:spPr>
      </p:pic>
      <p:sp>
        <p:nvSpPr>
          <p:cNvPr id="25" name="Text 20"/>
          <p:cNvSpPr/>
          <p:nvPr/>
        </p:nvSpPr>
        <p:spPr>
          <a:xfrm>
            <a:off x="5184648" y="3931920"/>
            <a:ext cx="1810512"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App Processing</a:t>
            </a:r>
            <a:endParaRPr lang="en-US" sz="1350" dirty="0"/>
          </a:p>
        </p:txBody>
      </p:sp>
      <p:sp>
        <p:nvSpPr>
          <p:cNvPr id="26" name="Text 21"/>
          <p:cNvSpPr/>
          <p:nvPr/>
        </p:nvSpPr>
        <p:spPr>
          <a:xfrm>
            <a:off x="5212080" y="4434840"/>
            <a:ext cx="1755648" cy="1188720"/>
          </a:xfrm>
          <a:prstGeom prst="rect">
            <a:avLst/>
          </a:prstGeom>
          <a:noFill/>
          <a:ln/>
        </p:spPr>
        <p:txBody>
          <a:bodyPr wrap="square" lIns="0" tIns="0" rIns="0" bIns="0" rtlCol="0" anchor="ctr"/>
          <a:lstStyle/>
          <a:p>
            <a:pPr algn="ctr" indent="0" marL="0">
              <a:buNone/>
            </a:pPr>
            <a:r>
              <a:rPr lang="en-US" sz="1050" dirty="0">
                <a:solidFill>
                  <a:srgbClr val="8A93A6"/>
                </a:solidFill>
                <a:latin typeface="Calibri" pitchFamily="34" charset="0"/>
                <a:ea typeface="Calibri" pitchFamily="34" charset="-122"/>
                <a:cs typeface="Calibri" pitchFamily="34" charset="-120"/>
              </a:rPr>
              <a:t>EC2 instance retrieves DB credentials from Secrets Manager at runtime</a:t>
            </a:r>
            <a:endParaRPr lang="en-US" sz="1050" dirty="0"/>
          </a:p>
        </p:txBody>
      </p:sp>
      <p:sp>
        <p:nvSpPr>
          <p:cNvPr id="27" name="Shape 22"/>
          <p:cNvSpPr/>
          <p:nvPr/>
        </p:nvSpPr>
        <p:spPr>
          <a:xfrm>
            <a:off x="7150608" y="3840480"/>
            <a:ext cx="128016" cy="0"/>
          </a:xfrm>
          <a:prstGeom prst="line">
            <a:avLst/>
          </a:prstGeom>
          <a:noFill/>
          <a:ln w="25400">
            <a:solidFill>
              <a:srgbClr val="00B4D8"/>
            </a:solidFill>
            <a:prstDash val="solid"/>
          </a:ln>
        </p:spPr>
      </p:sp>
      <p:sp>
        <p:nvSpPr>
          <p:cNvPr id="28" name="Shape 23"/>
          <p:cNvSpPr/>
          <p:nvPr/>
        </p:nvSpPr>
        <p:spPr>
          <a:xfrm>
            <a:off x="7296912" y="1965960"/>
            <a:ext cx="2084832" cy="3749040"/>
          </a:xfrm>
          <a:prstGeom prst="roundRect">
            <a:avLst>
              <a:gd name="adj" fmla="val 5263"/>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29" name="Shape 24"/>
          <p:cNvSpPr/>
          <p:nvPr/>
        </p:nvSpPr>
        <p:spPr>
          <a:xfrm>
            <a:off x="8046720" y="2194560"/>
            <a:ext cx="585216" cy="585216"/>
          </a:xfrm>
          <a:prstGeom prst="ellipse">
            <a:avLst/>
          </a:prstGeom>
          <a:solidFill>
            <a:srgbClr val="00B4D8"/>
          </a:solidFill>
          <a:ln/>
        </p:spPr>
      </p:sp>
      <p:sp>
        <p:nvSpPr>
          <p:cNvPr id="30" name="Text 25"/>
          <p:cNvSpPr/>
          <p:nvPr/>
        </p:nvSpPr>
        <p:spPr>
          <a:xfrm>
            <a:off x="8046720" y="2194560"/>
            <a:ext cx="585216" cy="585216"/>
          </a:xfrm>
          <a:prstGeom prst="rect">
            <a:avLst/>
          </a:prstGeom>
          <a:noFill/>
          <a:ln/>
        </p:spPr>
        <p:txBody>
          <a:bodyPr wrap="square" lIns="0" tIns="0" rIns="0" bIns="0" rtlCol="0" anchor="ctr"/>
          <a:lstStyle/>
          <a:p>
            <a:pPr algn="ctr" indent="0" marL="0">
              <a:buNone/>
            </a:pPr>
            <a:r>
              <a:rPr lang="en-US" sz="2200" b="1" dirty="0">
                <a:solidFill>
                  <a:srgbClr val="0F1626"/>
                </a:solidFill>
                <a:latin typeface="Cambria" pitchFamily="34" charset="0"/>
                <a:ea typeface="Cambria" pitchFamily="34" charset="-122"/>
                <a:cs typeface="Cambria" pitchFamily="34" charset="-120"/>
              </a:rPr>
              <a:t>4</a:t>
            </a:r>
            <a:endParaRPr lang="en-US" sz="2200" dirty="0"/>
          </a:p>
        </p:txBody>
      </p:sp>
      <p:sp>
        <p:nvSpPr>
          <p:cNvPr id="31" name="Shape 26"/>
          <p:cNvSpPr/>
          <p:nvPr/>
        </p:nvSpPr>
        <p:spPr>
          <a:xfrm>
            <a:off x="7973568" y="3017520"/>
            <a:ext cx="731520" cy="731520"/>
          </a:xfrm>
          <a:prstGeom prst="ellipse">
            <a:avLst/>
          </a:prstGeom>
          <a:solidFill>
            <a:srgbClr val="13284A"/>
          </a:solidFill>
          <a:ln w="19050">
            <a:solidFill>
              <a:srgbClr val="00B4D8"/>
            </a:solidFill>
            <a:prstDash val="solid"/>
          </a:ln>
        </p:spPr>
      </p:sp>
      <p:pic>
        <p:nvPicPr>
          <p:cNvPr id="32" name="Image 3" descr="preencoded.png">    </p:cNvPr>
          <p:cNvPicPr>
            <a:picLocks noChangeAspect="1"/>
          </p:cNvPicPr>
          <p:nvPr/>
        </p:nvPicPr>
        <p:blipFill>
          <a:blip r:embed="rId4"/>
          <a:stretch>
            <a:fillRect/>
          </a:stretch>
        </p:blipFill>
        <p:spPr>
          <a:xfrm>
            <a:off x="8149133" y="3193085"/>
            <a:ext cx="380390" cy="380390"/>
          </a:xfrm>
          <a:prstGeom prst="rect">
            <a:avLst/>
          </a:prstGeom>
        </p:spPr>
      </p:pic>
      <p:sp>
        <p:nvSpPr>
          <p:cNvPr id="33" name="Text 27"/>
          <p:cNvSpPr/>
          <p:nvPr/>
        </p:nvSpPr>
        <p:spPr>
          <a:xfrm>
            <a:off x="7434072" y="3931920"/>
            <a:ext cx="1810512"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Database Query</a:t>
            </a:r>
            <a:endParaRPr lang="en-US" sz="1350" dirty="0"/>
          </a:p>
        </p:txBody>
      </p:sp>
      <p:sp>
        <p:nvSpPr>
          <p:cNvPr id="34" name="Text 28"/>
          <p:cNvSpPr/>
          <p:nvPr/>
        </p:nvSpPr>
        <p:spPr>
          <a:xfrm>
            <a:off x="7461504" y="4434840"/>
            <a:ext cx="1755648" cy="1188720"/>
          </a:xfrm>
          <a:prstGeom prst="rect">
            <a:avLst/>
          </a:prstGeom>
          <a:noFill/>
          <a:ln/>
        </p:spPr>
        <p:txBody>
          <a:bodyPr wrap="square" lIns="0" tIns="0" rIns="0" bIns="0" rtlCol="0" anchor="ctr"/>
          <a:lstStyle/>
          <a:p>
            <a:pPr algn="ctr" indent="0" marL="0">
              <a:buNone/>
            </a:pPr>
            <a:r>
              <a:rPr lang="en-US" sz="1050" dirty="0">
                <a:solidFill>
                  <a:srgbClr val="8A93A6"/>
                </a:solidFill>
                <a:latin typeface="Calibri" pitchFamily="34" charset="0"/>
                <a:ea typeface="Calibri" pitchFamily="34" charset="-122"/>
                <a:cs typeface="Calibri" pitchFamily="34" charset="-120"/>
              </a:rPr>
              <a:t>App connects to RDS over an encrypted, private-only channel</a:t>
            </a:r>
            <a:endParaRPr lang="en-US" sz="1050" dirty="0"/>
          </a:p>
        </p:txBody>
      </p:sp>
      <p:sp>
        <p:nvSpPr>
          <p:cNvPr id="35" name="Shape 29"/>
          <p:cNvSpPr/>
          <p:nvPr/>
        </p:nvSpPr>
        <p:spPr>
          <a:xfrm>
            <a:off x="9400032" y="3840480"/>
            <a:ext cx="128016" cy="0"/>
          </a:xfrm>
          <a:prstGeom prst="line">
            <a:avLst/>
          </a:prstGeom>
          <a:noFill/>
          <a:ln w="25400">
            <a:solidFill>
              <a:srgbClr val="00B4D8"/>
            </a:solidFill>
            <a:prstDash val="solid"/>
          </a:ln>
        </p:spPr>
      </p:sp>
      <p:sp>
        <p:nvSpPr>
          <p:cNvPr id="36" name="Shape 30"/>
          <p:cNvSpPr/>
          <p:nvPr/>
        </p:nvSpPr>
        <p:spPr>
          <a:xfrm>
            <a:off x="9546336" y="1965960"/>
            <a:ext cx="2084832" cy="3749040"/>
          </a:xfrm>
          <a:prstGeom prst="roundRect">
            <a:avLst>
              <a:gd name="adj" fmla="val 5263"/>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37" name="Shape 31"/>
          <p:cNvSpPr/>
          <p:nvPr/>
        </p:nvSpPr>
        <p:spPr>
          <a:xfrm>
            <a:off x="10296144" y="2194560"/>
            <a:ext cx="585216" cy="585216"/>
          </a:xfrm>
          <a:prstGeom prst="ellipse">
            <a:avLst/>
          </a:prstGeom>
          <a:solidFill>
            <a:srgbClr val="00B4D8"/>
          </a:solidFill>
          <a:ln/>
        </p:spPr>
      </p:sp>
      <p:sp>
        <p:nvSpPr>
          <p:cNvPr id="38" name="Text 32"/>
          <p:cNvSpPr/>
          <p:nvPr/>
        </p:nvSpPr>
        <p:spPr>
          <a:xfrm>
            <a:off x="10296144" y="2194560"/>
            <a:ext cx="585216" cy="585216"/>
          </a:xfrm>
          <a:prstGeom prst="rect">
            <a:avLst/>
          </a:prstGeom>
          <a:noFill/>
          <a:ln/>
        </p:spPr>
        <p:txBody>
          <a:bodyPr wrap="square" lIns="0" tIns="0" rIns="0" bIns="0" rtlCol="0" anchor="ctr"/>
          <a:lstStyle/>
          <a:p>
            <a:pPr algn="ctr" indent="0" marL="0">
              <a:buNone/>
            </a:pPr>
            <a:r>
              <a:rPr lang="en-US" sz="2200" b="1" dirty="0">
                <a:solidFill>
                  <a:srgbClr val="0F1626"/>
                </a:solidFill>
                <a:latin typeface="Cambria" pitchFamily="34" charset="0"/>
                <a:ea typeface="Cambria" pitchFamily="34" charset="-122"/>
                <a:cs typeface="Cambria" pitchFamily="34" charset="-120"/>
              </a:rPr>
              <a:t>5</a:t>
            </a:r>
            <a:endParaRPr lang="en-US" sz="2200" dirty="0"/>
          </a:p>
        </p:txBody>
      </p:sp>
      <p:sp>
        <p:nvSpPr>
          <p:cNvPr id="39" name="Shape 33"/>
          <p:cNvSpPr/>
          <p:nvPr/>
        </p:nvSpPr>
        <p:spPr>
          <a:xfrm>
            <a:off x="10222992" y="3017520"/>
            <a:ext cx="731520" cy="731520"/>
          </a:xfrm>
          <a:prstGeom prst="ellipse">
            <a:avLst/>
          </a:prstGeom>
          <a:solidFill>
            <a:srgbClr val="13284A"/>
          </a:solidFill>
          <a:ln w="19050">
            <a:solidFill>
              <a:srgbClr val="00B4D8"/>
            </a:solidFill>
            <a:prstDash val="solid"/>
          </a:ln>
        </p:spPr>
      </p:sp>
      <p:pic>
        <p:nvPicPr>
          <p:cNvPr id="40" name="Image 4" descr="preencoded.png">    </p:cNvPr>
          <p:cNvPicPr>
            <a:picLocks noChangeAspect="1"/>
          </p:cNvPicPr>
          <p:nvPr/>
        </p:nvPicPr>
        <p:blipFill>
          <a:blip r:embed="rId5"/>
          <a:stretch>
            <a:fillRect/>
          </a:stretch>
        </p:blipFill>
        <p:spPr>
          <a:xfrm>
            <a:off x="10398557" y="3193085"/>
            <a:ext cx="380390" cy="380390"/>
          </a:xfrm>
          <a:prstGeom prst="rect">
            <a:avLst/>
          </a:prstGeom>
        </p:spPr>
      </p:pic>
      <p:sp>
        <p:nvSpPr>
          <p:cNvPr id="41" name="Text 34"/>
          <p:cNvSpPr/>
          <p:nvPr/>
        </p:nvSpPr>
        <p:spPr>
          <a:xfrm>
            <a:off x="9683496" y="3931920"/>
            <a:ext cx="1810512"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Response &amp; Metrics</a:t>
            </a:r>
            <a:endParaRPr lang="en-US" sz="1350" dirty="0"/>
          </a:p>
        </p:txBody>
      </p:sp>
      <p:sp>
        <p:nvSpPr>
          <p:cNvPr id="42" name="Text 35"/>
          <p:cNvSpPr/>
          <p:nvPr/>
        </p:nvSpPr>
        <p:spPr>
          <a:xfrm>
            <a:off x="9710928" y="4434840"/>
            <a:ext cx="1755648" cy="1188720"/>
          </a:xfrm>
          <a:prstGeom prst="rect">
            <a:avLst/>
          </a:prstGeom>
          <a:noFill/>
          <a:ln/>
        </p:spPr>
        <p:txBody>
          <a:bodyPr wrap="square" lIns="0" tIns="0" rIns="0" bIns="0" rtlCol="0" anchor="ctr"/>
          <a:lstStyle/>
          <a:p>
            <a:pPr algn="ctr" indent="0" marL="0">
              <a:buNone/>
            </a:pPr>
            <a:r>
              <a:rPr lang="en-US" sz="1050" dirty="0">
                <a:solidFill>
                  <a:srgbClr val="8A93A6"/>
                </a:solidFill>
                <a:latin typeface="Calibri" pitchFamily="34" charset="0"/>
                <a:ea typeface="Calibri" pitchFamily="34" charset="-122"/>
                <a:cs typeface="Calibri" pitchFamily="34" charset="-120"/>
              </a:rPr>
              <a:t>Result returned to user; CloudWatch records latency &amp; CPU metrics</a:t>
            </a:r>
            <a:endParaRPr lang="en-US" sz="1050" dirty="0"/>
          </a:p>
        </p:txBody>
      </p:sp>
      <p:sp>
        <p:nvSpPr>
          <p:cNvPr id="43" name="Text 3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5</a:t>
            </a:r>
            <a:endParaRPr lang="en-US" sz="1000" dirty="0"/>
          </a:p>
        </p:txBody>
      </p:sp>
      <p:sp>
        <p:nvSpPr>
          <p:cNvPr id="44" name="Text 37"/>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3A6"/>
                </a:solidFill>
                <a:latin typeface="Calibri" pitchFamily="34" charset="0"/>
                <a:ea typeface="Calibri" pitchFamily="34" charset="-122"/>
                <a:cs typeface="Calibri" pitchFamily="34" charset="-120"/>
              </a:rPr>
              <a:t>VaultPay Platform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E94560"/>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See It Live: VaultPay in Action</a:t>
            </a:r>
            <a:endParaRPr lang="en-US" sz="3000" dirty="0"/>
          </a:p>
        </p:txBody>
      </p:sp>
      <p:sp>
        <p:nvSpPr>
          <p:cNvPr id="4" name="Shape 2"/>
          <p:cNvSpPr/>
          <p:nvPr/>
        </p:nvSpPr>
        <p:spPr>
          <a:xfrm>
            <a:off x="548640" y="1600200"/>
            <a:ext cx="6583680" cy="4480560"/>
          </a:xfrm>
          <a:prstGeom prst="roundRect">
            <a:avLst>
              <a:gd name="adj" fmla="val 2449"/>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868680" y="1828800"/>
            <a:ext cx="5943600" cy="411480"/>
          </a:xfrm>
          <a:prstGeom prst="rect">
            <a:avLst/>
          </a:prstGeom>
          <a:noFill/>
          <a:ln/>
        </p:spPr>
        <p:txBody>
          <a:bodyPr wrap="square" lIns="0" tIns="0" rIns="0" bIns="0" rtlCol="0" anchor="ctr"/>
          <a:lstStyle/>
          <a:p>
            <a:pPr indent="0" marL="0">
              <a:buNone/>
            </a:pPr>
            <a:r>
              <a:rPr lang="en-US" sz="1800" b="1" dirty="0">
                <a:solidFill>
                  <a:srgbClr val="E94560"/>
                </a:solidFill>
                <a:latin typeface="Cambria" pitchFamily="34" charset="0"/>
                <a:ea typeface="Cambria" pitchFamily="34" charset="-122"/>
                <a:cs typeface="Cambria" pitchFamily="34" charset="-120"/>
              </a:rPr>
              <a:t>Demo Script</a:t>
            </a:r>
            <a:endParaRPr lang="en-US" sz="1800" dirty="0"/>
          </a:p>
        </p:txBody>
      </p:sp>
      <p:sp>
        <p:nvSpPr>
          <p:cNvPr id="6" name="Shape 4"/>
          <p:cNvSpPr/>
          <p:nvPr/>
        </p:nvSpPr>
        <p:spPr>
          <a:xfrm>
            <a:off x="868680" y="2377440"/>
            <a:ext cx="365760" cy="365760"/>
          </a:xfrm>
          <a:prstGeom prst="ellipse">
            <a:avLst/>
          </a:prstGeom>
          <a:solidFill>
            <a:srgbClr val="2A1620"/>
          </a:solidFill>
          <a:ln/>
        </p:spPr>
      </p:sp>
      <p:sp>
        <p:nvSpPr>
          <p:cNvPr id="7" name="Text 5"/>
          <p:cNvSpPr/>
          <p:nvPr/>
        </p:nvSpPr>
        <p:spPr>
          <a:xfrm>
            <a:off x="868680" y="2377440"/>
            <a:ext cx="365760" cy="365760"/>
          </a:xfrm>
          <a:prstGeom prst="rect">
            <a:avLst/>
          </a:prstGeom>
          <a:noFill/>
          <a:ln/>
        </p:spPr>
        <p:txBody>
          <a:bodyPr wrap="square" lIns="0" tIns="0" rIns="0" bIns="0" rtlCol="0" anchor="ctr"/>
          <a:lstStyle/>
          <a:p>
            <a:pPr algn="ctr" indent="0" marL="0">
              <a:buNone/>
            </a:pPr>
            <a:r>
              <a:rPr lang="en-US" sz="1300" b="1" dirty="0">
                <a:solidFill>
                  <a:srgbClr val="E94560"/>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71600" y="2350008"/>
            <a:ext cx="539496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Open the ALB endpoint in the browser — show the live VaultPay UI</a:t>
            </a:r>
            <a:endParaRPr lang="en-US" sz="1250" dirty="0"/>
          </a:p>
        </p:txBody>
      </p:sp>
      <p:sp>
        <p:nvSpPr>
          <p:cNvPr id="9" name="Shape 7"/>
          <p:cNvSpPr/>
          <p:nvPr/>
        </p:nvSpPr>
        <p:spPr>
          <a:xfrm>
            <a:off x="868680" y="2926080"/>
            <a:ext cx="365760" cy="365760"/>
          </a:xfrm>
          <a:prstGeom prst="ellipse">
            <a:avLst/>
          </a:prstGeom>
          <a:solidFill>
            <a:srgbClr val="2A1620"/>
          </a:solidFill>
          <a:ln/>
        </p:spPr>
      </p:sp>
      <p:sp>
        <p:nvSpPr>
          <p:cNvPr id="10" name="Text 8"/>
          <p:cNvSpPr/>
          <p:nvPr/>
        </p:nvSpPr>
        <p:spPr>
          <a:xfrm>
            <a:off x="868680" y="2926080"/>
            <a:ext cx="365760" cy="365760"/>
          </a:xfrm>
          <a:prstGeom prst="rect">
            <a:avLst/>
          </a:prstGeom>
          <a:noFill/>
          <a:ln/>
        </p:spPr>
        <p:txBody>
          <a:bodyPr wrap="square" lIns="0" tIns="0" rIns="0" bIns="0" rtlCol="0" anchor="ctr"/>
          <a:lstStyle/>
          <a:p>
            <a:pPr algn="ctr" indent="0" marL="0">
              <a:buNone/>
            </a:pPr>
            <a:r>
              <a:rPr lang="en-US" sz="1300" b="1" dirty="0">
                <a:solidFill>
                  <a:srgbClr val="E94560"/>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371600" y="2898648"/>
            <a:ext cx="539496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Click "Health Check" — show real-time instance ID and AZ</a:t>
            </a:r>
            <a:endParaRPr lang="en-US" sz="1250" dirty="0"/>
          </a:p>
        </p:txBody>
      </p:sp>
      <p:sp>
        <p:nvSpPr>
          <p:cNvPr id="12" name="Shape 10"/>
          <p:cNvSpPr/>
          <p:nvPr/>
        </p:nvSpPr>
        <p:spPr>
          <a:xfrm>
            <a:off x="868680" y="3474720"/>
            <a:ext cx="365760" cy="365760"/>
          </a:xfrm>
          <a:prstGeom prst="ellipse">
            <a:avLst/>
          </a:prstGeom>
          <a:solidFill>
            <a:srgbClr val="2A1620"/>
          </a:solidFill>
          <a:ln/>
        </p:spPr>
      </p:sp>
      <p:sp>
        <p:nvSpPr>
          <p:cNvPr id="13" name="Text 11"/>
          <p:cNvSpPr/>
          <p:nvPr/>
        </p:nvSpPr>
        <p:spPr>
          <a:xfrm>
            <a:off x="868680" y="3474720"/>
            <a:ext cx="365760" cy="365760"/>
          </a:xfrm>
          <a:prstGeom prst="rect">
            <a:avLst/>
          </a:prstGeom>
          <a:noFill/>
          <a:ln/>
        </p:spPr>
        <p:txBody>
          <a:bodyPr wrap="square" lIns="0" tIns="0" rIns="0" bIns="0" rtlCol="0" anchor="ctr"/>
          <a:lstStyle/>
          <a:p>
            <a:pPr algn="ctr" indent="0" marL="0">
              <a:buNone/>
            </a:pPr>
            <a:r>
              <a:rPr lang="en-US" sz="1300" b="1" dirty="0">
                <a:solidFill>
                  <a:srgbClr val="E94560"/>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371600" y="3447288"/>
            <a:ext cx="539496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Click "Database Status" — prove the live connection to RDS PostgreSQL</a:t>
            </a:r>
            <a:endParaRPr lang="en-US" sz="1250" dirty="0"/>
          </a:p>
        </p:txBody>
      </p:sp>
      <p:sp>
        <p:nvSpPr>
          <p:cNvPr id="15" name="Shape 13"/>
          <p:cNvSpPr/>
          <p:nvPr/>
        </p:nvSpPr>
        <p:spPr>
          <a:xfrm>
            <a:off x="868680" y="4023360"/>
            <a:ext cx="365760" cy="365760"/>
          </a:xfrm>
          <a:prstGeom prst="ellipse">
            <a:avLst/>
          </a:prstGeom>
          <a:solidFill>
            <a:srgbClr val="2A1620"/>
          </a:solidFill>
          <a:ln/>
        </p:spPr>
      </p:sp>
      <p:sp>
        <p:nvSpPr>
          <p:cNvPr id="16" name="Text 14"/>
          <p:cNvSpPr/>
          <p:nvPr/>
        </p:nvSpPr>
        <p:spPr>
          <a:xfrm>
            <a:off x="868680" y="4023360"/>
            <a:ext cx="365760" cy="365760"/>
          </a:xfrm>
          <a:prstGeom prst="rect">
            <a:avLst/>
          </a:prstGeom>
          <a:noFill/>
          <a:ln/>
        </p:spPr>
        <p:txBody>
          <a:bodyPr wrap="square" lIns="0" tIns="0" rIns="0" bIns="0" rtlCol="0" anchor="ctr"/>
          <a:lstStyle/>
          <a:p>
            <a:pPr algn="ctr" indent="0" marL="0">
              <a:buNone/>
            </a:pPr>
            <a:r>
              <a:rPr lang="en-US" sz="1300" b="1" dirty="0">
                <a:solidFill>
                  <a:srgbClr val="E94560"/>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371600" y="3995928"/>
            <a:ext cx="539496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Click "Live Metrics" — pull real CPU &amp; alarm state directly from CloudWatch</a:t>
            </a:r>
            <a:endParaRPr lang="en-US" sz="1250" dirty="0"/>
          </a:p>
        </p:txBody>
      </p:sp>
      <p:sp>
        <p:nvSpPr>
          <p:cNvPr id="18" name="Shape 16"/>
          <p:cNvSpPr/>
          <p:nvPr/>
        </p:nvSpPr>
        <p:spPr>
          <a:xfrm>
            <a:off x="868680" y="4572000"/>
            <a:ext cx="365760" cy="365760"/>
          </a:xfrm>
          <a:prstGeom prst="ellipse">
            <a:avLst/>
          </a:prstGeom>
          <a:solidFill>
            <a:srgbClr val="2A1620"/>
          </a:solidFill>
          <a:ln/>
        </p:spPr>
      </p:sp>
      <p:sp>
        <p:nvSpPr>
          <p:cNvPr id="19" name="Text 17"/>
          <p:cNvSpPr/>
          <p:nvPr/>
        </p:nvSpPr>
        <p:spPr>
          <a:xfrm>
            <a:off x="868680" y="4572000"/>
            <a:ext cx="365760" cy="365760"/>
          </a:xfrm>
          <a:prstGeom prst="rect">
            <a:avLst/>
          </a:prstGeom>
          <a:noFill/>
          <a:ln/>
        </p:spPr>
        <p:txBody>
          <a:bodyPr wrap="square" lIns="0" tIns="0" rIns="0" bIns="0" rtlCol="0" anchor="ctr"/>
          <a:lstStyle/>
          <a:p>
            <a:pPr algn="ctr" indent="0" marL="0">
              <a:buNone/>
            </a:pPr>
            <a:r>
              <a:rPr lang="en-US" sz="1300" b="1" dirty="0">
                <a:solidFill>
                  <a:srgbClr val="E94560"/>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1371600" y="4544568"/>
            <a:ext cx="539496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Run stress-test.sh — watch CPU climb and Auto Scaling react</a:t>
            </a:r>
            <a:endParaRPr lang="en-US" sz="1250" dirty="0"/>
          </a:p>
        </p:txBody>
      </p:sp>
      <p:sp>
        <p:nvSpPr>
          <p:cNvPr id="21" name="Shape 19"/>
          <p:cNvSpPr/>
          <p:nvPr/>
        </p:nvSpPr>
        <p:spPr>
          <a:xfrm>
            <a:off x="868680" y="5120640"/>
            <a:ext cx="365760" cy="365760"/>
          </a:xfrm>
          <a:prstGeom prst="ellipse">
            <a:avLst/>
          </a:prstGeom>
          <a:solidFill>
            <a:srgbClr val="2A1620"/>
          </a:solidFill>
          <a:ln/>
        </p:spPr>
      </p:sp>
      <p:sp>
        <p:nvSpPr>
          <p:cNvPr id="22" name="Text 20"/>
          <p:cNvSpPr/>
          <p:nvPr/>
        </p:nvSpPr>
        <p:spPr>
          <a:xfrm>
            <a:off x="868680" y="5120640"/>
            <a:ext cx="365760" cy="365760"/>
          </a:xfrm>
          <a:prstGeom prst="rect">
            <a:avLst/>
          </a:prstGeom>
          <a:noFill/>
          <a:ln/>
        </p:spPr>
        <p:txBody>
          <a:bodyPr wrap="square" lIns="0" tIns="0" rIns="0" bIns="0" rtlCol="0" anchor="ctr"/>
          <a:lstStyle/>
          <a:p>
            <a:pPr algn="ctr" indent="0" marL="0">
              <a:buNone/>
            </a:pPr>
            <a:r>
              <a:rPr lang="en-US" sz="1300" b="1" dirty="0">
                <a:solidFill>
                  <a:srgbClr val="E94560"/>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1371600" y="5093208"/>
            <a:ext cx="539496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Show the GitHub Actions pipeline — green build on every push</a:t>
            </a:r>
            <a:endParaRPr lang="en-US" sz="1250" dirty="0"/>
          </a:p>
        </p:txBody>
      </p:sp>
      <p:sp>
        <p:nvSpPr>
          <p:cNvPr id="24" name="Shape 22"/>
          <p:cNvSpPr/>
          <p:nvPr/>
        </p:nvSpPr>
        <p:spPr>
          <a:xfrm>
            <a:off x="7315200" y="1600200"/>
            <a:ext cx="4297680" cy="4480560"/>
          </a:xfrm>
          <a:prstGeom prst="roundRect">
            <a:avLst>
              <a:gd name="adj" fmla="val 2553"/>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25" name="Text 23"/>
          <p:cNvSpPr/>
          <p:nvPr/>
        </p:nvSpPr>
        <p:spPr>
          <a:xfrm>
            <a:off x="7635240" y="1828800"/>
            <a:ext cx="3657600" cy="365760"/>
          </a:xfrm>
          <a:prstGeom prst="rect">
            <a:avLst/>
          </a:prstGeom>
          <a:noFill/>
          <a:ln/>
        </p:spPr>
        <p:txBody>
          <a:bodyPr wrap="square" lIns="0" tIns="0" rIns="0" bIns="0" rtlCol="0" anchor="ctr"/>
          <a:lstStyle/>
          <a:p>
            <a:pPr indent="0" marL="0">
              <a:buNone/>
            </a:pPr>
            <a:r>
              <a:rPr lang="en-US" sz="1600" b="1" dirty="0">
                <a:solidFill>
                  <a:srgbClr val="00B4D8"/>
                </a:solidFill>
                <a:latin typeface="Cambria" pitchFamily="34" charset="0"/>
                <a:ea typeface="Cambria" pitchFamily="34" charset="-122"/>
                <a:cs typeface="Cambria" pitchFamily="34" charset="-120"/>
              </a:rPr>
              <a:t>Live Endpoint</a:t>
            </a:r>
            <a:endParaRPr lang="en-US" sz="1600" dirty="0"/>
          </a:p>
        </p:txBody>
      </p:sp>
      <p:sp>
        <p:nvSpPr>
          <p:cNvPr id="26" name="Shape 24"/>
          <p:cNvSpPr/>
          <p:nvPr/>
        </p:nvSpPr>
        <p:spPr>
          <a:xfrm>
            <a:off x="7635240" y="2331720"/>
            <a:ext cx="3657600" cy="685800"/>
          </a:xfrm>
          <a:prstGeom prst="roundRect">
            <a:avLst>
              <a:gd name="adj" fmla="val 10667"/>
            </a:avLst>
          </a:prstGeom>
          <a:solidFill>
            <a:srgbClr val="0B1626"/>
          </a:solidFill>
          <a:ln w="12700">
            <a:solidFill>
              <a:srgbClr val="27406B"/>
            </a:solidFill>
            <a:prstDash val="solid"/>
          </a:ln>
        </p:spPr>
      </p:sp>
      <p:sp>
        <p:nvSpPr>
          <p:cNvPr id="27" name="Text 25"/>
          <p:cNvSpPr/>
          <p:nvPr/>
        </p:nvSpPr>
        <p:spPr>
          <a:xfrm>
            <a:off x="7772400" y="2331720"/>
            <a:ext cx="3383280" cy="685800"/>
          </a:xfrm>
          <a:prstGeom prst="rect">
            <a:avLst/>
          </a:prstGeom>
          <a:noFill/>
          <a:ln/>
        </p:spPr>
        <p:txBody>
          <a:bodyPr wrap="square" lIns="0" tIns="0" rIns="0" bIns="0" rtlCol="0" anchor="ctr"/>
          <a:lstStyle/>
          <a:p>
            <a:pPr indent="0" marL="0">
              <a:buNone/>
            </a:pPr>
            <a:r>
              <a:rPr lang="en-US" sz="1050" dirty="0">
                <a:solidFill>
                  <a:srgbClr val="00FF88"/>
                </a:solidFill>
                <a:latin typeface="Courier New" pitchFamily="34" charset="0"/>
                <a:ea typeface="Courier New" pitchFamily="34" charset="-122"/>
                <a:cs typeface="Courier New" pitchFamily="34" charset="-120"/>
              </a:rPr>
              <a:t>vaultpay-dev-alb-355929396</a:t>
            </a:r>
            <a:endParaRPr lang="en-US" sz="1050" dirty="0"/>
          </a:p>
          <a:p>
            <a:pPr indent="0" marL="0">
              <a:buNone/>
            </a:pPr>
            <a:r>
              <a:rPr lang="en-US" sz="1050" dirty="0">
                <a:solidFill>
                  <a:srgbClr val="00FF88"/>
                </a:solidFill>
                <a:latin typeface="Courier New" pitchFamily="34" charset="0"/>
                <a:ea typeface="Courier New" pitchFamily="34" charset="-122"/>
                <a:cs typeface="Courier New" pitchFamily="34" charset="-120"/>
              </a:rPr>
              <a:t>.us-east-1.elb.amazonaws.com</a:t>
            </a:r>
            <a:endParaRPr lang="en-US" sz="1050" dirty="0"/>
          </a:p>
        </p:txBody>
      </p:sp>
      <p:sp>
        <p:nvSpPr>
          <p:cNvPr id="28" name="Text 26"/>
          <p:cNvSpPr/>
          <p:nvPr/>
        </p:nvSpPr>
        <p:spPr>
          <a:xfrm>
            <a:off x="7635240" y="3246120"/>
            <a:ext cx="3657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makes it real, not a mockup:</a:t>
            </a:r>
            <a:endParaRPr lang="en-US" sz="1300" dirty="0"/>
          </a:p>
        </p:txBody>
      </p:sp>
      <p:sp>
        <p:nvSpPr>
          <p:cNvPr id="29" name="Shape 27"/>
          <p:cNvSpPr/>
          <p:nvPr/>
        </p:nvSpPr>
        <p:spPr>
          <a:xfrm>
            <a:off x="7635240" y="3657600"/>
            <a:ext cx="365760" cy="365760"/>
          </a:xfrm>
          <a:prstGeom prst="ellipse">
            <a:avLst/>
          </a:prstGeom>
          <a:solidFill>
            <a:srgbClr val="13284A"/>
          </a:solidFill>
          <a:ln w="19050">
            <a:solidFill>
              <a:srgbClr val="00FF88"/>
            </a:solidFill>
            <a:prstDash val="solid"/>
          </a:ln>
        </p:spPr>
      </p:sp>
      <p:pic>
        <p:nvPicPr>
          <p:cNvPr id="30" name="Image 0" descr="preencoded.png">    </p:cNvPr>
          <p:cNvPicPr>
            <a:picLocks noChangeAspect="1"/>
          </p:cNvPicPr>
          <p:nvPr/>
        </p:nvPicPr>
        <p:blipFill>
          <a:blip r:embed="rId1"/>
          <a:stretch>
            <a:fillRect/>
          </a:stretch>
        </p:blipFill>
        <p:spPr>
          <a:xfrm>
            <a:off x="7723022" y="3745382"/>
            <a:ext cx="190195" cy="190195"/>
          </a:xfrm>
          <a:prstGeom prst="rect">
            <a:avLst/>
          </a:prstGeom>
        </p:spPr>
      </p:pic>
      <p:sp>
        <p:nvSpPr>
          <p:cNvPr id="31" name="Text 28"/>
          <p:cNvSpPr/>
          <p:nvPr/>
        </p:nvSpPr>
        <p:spPr>
          <a:xfrm>
            <a:off x="8138160" y="3639312"/>
            <a:ext cx="3566160" cy="365760"/>
          </a:xfrm>
          <a:prstGeom prst="rect">
            <a:avLst/>
          </a:prstGeom>
          <a:noFill/>
          <a:ln/>
        </p:spPr>
        <p:txBody>
          <a:bodyPr wrap="square" lIns="0" tIns="0" rIns="0" bIns="0" rtlCol="0" anchor="ctr"/>
          <a:lstStyle/>
          <a:p>
            <a:pPr indent="0" marL="0">
              <a:buNone/>
            </a:pPr>
            <a:r>
              <a:rPr lang="en-US" sz="1150" dirty="0">
                <a:solidFill>
                  <a:srgbClr val="D7DCE8"/>
                </a:solidFill>
                <a:latin typeface="Calibri" pitchFamily="34" charset="0"/>
                <a:ea typeface="Calibri" pitchFamily="34" charset="-122"/>
                <a:cs typeface="Calibri" pitchFamily="34" charset="-120"/>
              </a:rPr>
              <a:t>Live RDS connection — no fake data</a:t>
            </a:r>
            <a:endParaRPr lang="en-US" sz="1150" dirty="0"/>
          </a:p>
        </p:txBody>
      </p:sp>
      <p:sp>
        <p:nvSpPr>
          <p:cNvPr id="32" name="Shape 29"/>
          <p:cNvSpPr/>
          <p:nvPr/>
        </p:nvSpPr>
        <p:spPr>
          <a:xfrm>
            <a:off x="7635240" y="4114800"/>
            <a:ext cx="365760" cy="365760"/>
          </a:xfrm>
          <a:prstGeom prst="ellipse">
            <a:avLst/>
          </a:prstGeom>
          <a:solidFill>
            <a:srgbClr val="13284A"/>
          </a:solidFill>
          <a:ln w="19050">
            <a:solidFill>
              <a:srgbClr val="00FF88"/>
            </a:solidFill>
            <a:prstDash val="solid"/>
          </a:ln>
        </p:spPr>
      </p:sp>
      <p:pic>
        <p:nvPicPr>
          <p:cNvPr id="33" name="Image 1" descr="preencoded.png">    </p:cNvPr>
          <p:cNvPicPr>
            <a:picLocks noChangeAspect="1"/>
          </p:cNvPicPr>
          <p:nvPr/>
        </p:nvPicPr>
        <p:blipFill>
          <a:blip r:embed="rId2"/>
          <a:stretch>
            <a:fillRect/>
          </a:stretch>
        </p:blipFill>
        <p:spPr>
          <a:xfrm>
            <a:off x="7723022" y="4202582"/>
            <a:ext cx="190195" cy="190195"/>
          </a:xfrm>
          <a:prstGeom prst="rect">
            <a:avLst/>
          </a:prstGeom>
        </p:spPr>
      </p:pic>
      <p:sp>
        <p:nvSpPr>
          <p:cNvPr id="34" name="Text 30"/>
          <p:cNvSpPr/>
          <p:nvPr/>
        </p:nvSpPr>
        <p:spPr>
          <a:xfrm>
            <a:off x="8138160" y="4096512"/>
            <a:ext cx="3566160" cy="365760"/>
          </a:xfrm>
          <a:prstGeom prst="rect">
            <a:avLst/>
          </a:prstGeom>
          <a:noFill/>
          <a:ln/>
        </p:spPr>
        <p:txBody>
          <a:bodyPr wrap="square" lIns="0" tIns="0" rIns="0" bIns="0" rtlCol="0" anchor="ctr"/>
          <a:lstStyle/>
          <a:p>
            <a:pPr indent="0" marL="0">
              <a:buNone/>
            </a:pPr>
            <a:r>
              <a:rPr lang="en-US" sz="1150" dirty="0">
                <a:solidFill>
                  <a:srgbClr val="D7DCE8"/>
                </a:solidFill>
                <a:latin typeface="Calibri" pitchFamily="34" charset="0"/>
                <a:ea typeface="Calibri" pitchFamily="34" charset="-122"/>
                <a:cs typeface="Calibri" pitchFamily="34" charset="-120"/>
              </a:rPr>
              <a:t>Real CloudWatch metrics pulled per request</a:t>
            </a:r>
            <a:endParaRPr lang="en-US" sz="1150" dirty="0"/>
          </a:p>
        </p:txBody>
      </p:sp>
      <p:sp>
        <p:nvSpPr>
          <p:cNvPr id="35" name="Shape 31"/>
          <p:cNvSpPr/>
          <p:nvPr/>
        </p:nvSpPr>
        <p:spPr>
          <a:xfrm>
            <a:off x="7635240" y="4572000"/>
            <a:ext cx="365760" cy="365760"/>
          </a:xfrm>
          <a:prstGeom prst="ellipse">
            <a:avLst/>
          </a:prstGeom>
          <a:solidFill>
            <a:srgbClr val="13284A"/>
          </a:solidFill>
          <a:ln w="19050">
            <a:solidFill>
              <a:srgbClr val="00FF88"/>
            </a:solidFill>
            <a:prstDash val="solid"/>
          </a:ln>
        </p:spPr>
      </p:sp>
      <p:pic>
        <p:nvPicPr>
          <p:cNvPr id="36" name="Image 2" descr="preencoded.png">    </p:cNvPr>
          <p:cNvPicPr>
            <a:picLocks noChangeAspect="1"/>
          </p:cNvPicPr>
          <p:nvPr/>
        </p:nvPicPr>
        <p:blipFill>
          <a:blip r:embed="rId3"/>
          <a:stretch>
            <a:fillRect/>
          </a:stretch>
        </p:blipFill>
        <p:spPr>
          <a:xfrm>
            <a:off x="7723022" y="4659782"/>
            <a:ext cx="190195" cy="190195"/>
          </a:xfrm>
          <a:prstGeom prst="rect">
            <a:avLst/>
          </a:prstGeom>
        </p:spPr>
      </p:pic>
      <p:sp>
        <p:nvSpPr>
          <p:cNvPr id="37" name="Text 32"/>
          <p:cNvSpPr/>
          <p:nvPr/>
        </p:nvSpPr>
        <p:spPr>
          <a:xfrm>
            <a:off x="8138160" y="4553712"/>
            <a:ext cx="3566160" cy="365760"/>
          </a:xfrm>
          <a:prstGeom prst="rect">
            <a:avLst/>
          </a:prstGeom>
          <a:noFill/>
          <a:ln/>
        </p:spPr>
        <p:txBody>
          <a:bodyPr wrap="square" lIns="0" tIns="0" rIns="0" bIns="0" rtlCol="0" anchor="ctr"/>
          <a:lstStyle/>
          <a:p>
            <a:pPr indent="0" marL="0">
              <a:buNone/>
            </a:pPr>
            <a:r>
              <a:rPr lang="en-US" sz="1150" dirty="0">
                <a:solidFill>
                  <a:srgbClr val="D7DCE8"/>
                </a:solidFill>
                <a:latin typeface="Calibri" pitchFamily="34" charset="0"/>
                <a:ea typeface="Calibri" pitchFamily="34" charset="-122"/>
                <a:cs typeface="Calibri" pitchFamily="34" charset="-120"/>
              </a:rPr>
              <a:t>Auto Scaling Group, not fixed servers</a:t>
            </a:r>
            <a:endParaRPr lang="en-US" sz="1150" dirty="0"/>
          </a:p>
        </p:txBody>
      </p:sp>
      <p:sp>
        <p:nvSpPr>
          <p:cNvPr id="38" name="Shape 33"/>
          <p:cNvSpPr/>
          <p:nvPr/>
        </p:nvSpPr>
        <p:spPr>
          <a:xfrm>
            <a:off x="7635240" y="5029200"/>
            <a:ext cx="365760" cy="365760"/>
          </a:xfrm>
          <a:prstGeom prst="ellipse">
            <a:avLst/>
          </a:prstGeom>
          <a:solidFill>
            <a:srgbClr val="13284A"/>
          </a:solidFill>
          <a:ln w="19050">
            <a:solidFill>
              <a:srgbClr val="00FF88"/>
            </a:solidFill>
            <a:prstDash val="solid"/>
          </a:ln>
        </p:spPr>
      </p:sp>
      <p:pic>
        <p:nvPicPr>
          <p:cNvPr id="39" name="Image 3" descr="preencoded.png">    </p:cNvPr>
          <p:cNvPicPr>
            <a:picLocks noChangeAspect="1"/>
          </p:cNvPicPr>
          <p:nvPr/>
        </p:nvPicPr>
        <p:blipFill>
          <a:blip r:embed="rId4"/>
          <a:stretch>
            <a:fillRect/>
          </a:stretch>
        </p:blipFill>
        <p:spPr>
          <a:xfrm>
            <a:off x="7723022" y="5116982"/>
            <a:ext cx="190195" cy="190195"/>
          </a:xfrm>
          <a:prstGeom prst="rect">
            <a:avLst/>
          </a:prstGeom>
        </p:spPr>
      </p:pic>
      <p:sp>
        <p:nvSpPr>
          <p:cNvPr id="40" name="Text 34"/>
          <p:cNvSpPr/>
          <p:nvPr/>
        </p:nvSpPr>
        <p:spPr>
          <a:xfrm>
            <a:off x="8138160" y="5010912"/>
            <a:ext cx="3566160" cy="365760"/>
          </a:xfrm>
          <a:prstGeom prst="rect">
            <a:avLst/>
          </a:prstGeom>
          <a:noFill/>
          <a:ln/>
        </p:spPr>
        <p:txBody>
          <a:bodyPr wrap="square" lIns="0" tIns="0" rIns="0" bIns="0" rtlCol="0" anchor="ctr"/>
          <a:lstStyle/>
          <a:p>
            <a:pPr indent="0" marL="0">
              <a:buNone/>
            </a:pPr>
            <a:r>
              <a:rPr lang="en-US" sz="1150" dirty="0">
                <a:solidFill>
                  <a:srgbClr val="D7DCE8"/>
                </a:solidFill>
                <a:latin typeface="Calibri" pitchFamily="34" charset="0"/>
                <a:ea typeface="Calibri" pitchFamily="34" charset="-122"/>
                <a:cs typeface="Calibri" pitchFamily="34" charset="-120"/>
              </a:rPr>
              <a:t>Backed by a CI/CD pipeline on every commit</a:t>
            </a:r>
            <a:endParaRPr lang="en-US" sz="1150" dirty="0"/>
          </a:p>
        </p:txBody>
      </p:sp>
      <p:sp>
        <p:nvSpPr>
          <p:cNvPr id="41" name="Text 35"/>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6</a:t>
            </a:r>
            <a:endParaRPr lang="en-US" sz="1000" dirty="0"/>
          </a:p>
        </p:txBody>
      </p:sp>
      <p:sp>
        <p:nvSpPr>
          <p:cNvPr id="42" name="Text 36"/>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3A6"/>
                </a:solidFill>
                <a:latin typeface="Calibri" pitchFamily="34" charset="0"/>
                <a:ea typeface="Calibri" pitchFamily="34" charset="-122"/>
                <a:cs typeface="Calibri" pitchFamily="34" charset="-120"/>
              </a:rPr>
              <a:t>VaultPay Platform</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TECHNICAL DEEP DIVE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Security: Defense in Depth</a:t>
            </a:r>
            <a:endParaRPr lang="en-US" sz="3000" dirty="0"/>
          </a:p>
        </p:txBody>
      </p:sp>
      <p:sp>
        <p:nvSpPr>
          <p:cNvPr id="4" name="Shape 2"/>
          <p:cNvSpPr/>
          <p:nvPr/>
        </p:nvSpPr>
        <p:spPr>
          <a:xfrm>
            <a:off x="548640" y="1600200"/>
            <a:ext cx="3611880" cy="4434840"/>
          </a:xfrm>
          <a:prstGeom prst="roundRect">
            <a:avLst>
              <a:gd name="adj" fmla="val 3038"/>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822960" y="1874520"/>
            <a:ext cx="685800" cy="685800"/>
          </a:xfrm>
          <a:prstGeom prst="ellipse">
            <a:avLst/>
          </a:prstGeom>
          <a:solidFill>
            <a:srgbClr val="13284A"/>
          </a:solidFill>
          <a:ln w="19050">
            <a:solidFill>
              <a:srgbClr val="00B4D8"/>
            </a:solidFill>
            <a:prstDash val="solid"/>
          </a:ln>
        </p:spPr>
      </p:sp>
      <p:pic>
        <p:nvPicPr>
          <p:cNvPr id="6" name="Image 0" descr="preencoded.png">    </p:cNvPr>
          <p:cNvPicPr>
            <a:picLocks noChangeAspect="1"/>
          </p:cNvPicPr>
          <p:nvPr/>
        </p:nvPicPr>
        <p:blipFill>
          <a:blip r:embed="rId1"/>
          <a:stretch>
            <a:fillRect/>
          </a:stretch>
        </p:blipFill>
        <p:spPr>
          <a:xfrm>
            <a:off x="987552" y="2039112"/>
            <a:ext cx="356616" cy="356616"/>
          </a:xfrm>
          <a:prstGeom prst="rect">
            <a:avLst/>
          </a:prstGeom>
        </p:spPr>
      </p:pic>
      <p:sp>
        <p:nvSpPr>
          <p:cNvPr id="7" name="Text 4"/>
          <p:cNvSpPr/>
          <p:nvPr/>
        </p:nvSpPr>
        <p:spPr>
          <a:xfrm>
            <a:off x="1645920" y="1874520"/>
            <a:ext cx="2240280" cy="6858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Network Isolation</a:t>
            </a:r>
            <a:endParaRPr lang="en-US" sz="1600" dirty="0"/>
          </a:p>
        </p:txBody>
      </p:sp>
      <p:sp>
        <p:nvSpPr>
          <p:cNvPr id="8" name="Text 5"/>
          <p:cNvSpPr/>
          <p:nvPr/>
        </p:nvSpPr>
        <p:spPr>
          <a:xfrm>
            <a:off x="868680" y="2743200"/>
            <a:ext cx="2971800" cy="3108960"/>
          </a:xfrm>
          <a:prstGeom prst="rect">
            <a:avLst/>
          </a:prstGeom>
          <a:noFill/>
          <a:ln/>
        </p:spPr>
        <p:txBody>
          <a:bodyPr wrap="square" lIns="0" tIns="0" rIns="0" bIns="0" rtlCol="0" anchor="ctr"/>
          <a:lstStyle/>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3 isolated tiers via subnets</a:t>
            </a:r>
            <a:endParaRPr lang="en-US" sz="1250" dirty="0"/>
          </a:p>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DB has zero internet route</a:t>
            </a:r>
            <a:endParaRPr lang="en-US" sz="1250" dirty="0"/>
          </a:p>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Security groups: least privilege</a:t>
            </a:r>
            <a:endParaRPr lang="en-US" sz="1250" dirty="0"/>
          </a:p>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Only ALB SG can reach app tier</a:t>
            </a:r>
            <a:endParaRPr lang="en-US" sz="1250" dirty="0"/>
          </a:p>
        </p:txBody>
      </p:sp>
      <p:sp>
        <p:nvSpPr>
          <p:cNvPr id="9" name="Shape 6"/>
          <p:cNvSpPr/>
          <p:nvPr/>
        </p:nvSpPr>
        <p:spPr>
          <a:xfrm>
            <a:off x="4343400" y="1600200"/>
            <a:ext cx="3611880" cy="4434840"/>
          </a:xfrm>
          <a:prstGeom prst="roundRect">
            <a:avLst>
              <a:gd name="adj" fmla="val 3038"/>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0" name="Shape 7"/>
          <p:cNvSpPr/>
          <p:nvPr/>
        </p:nvSpPr>
        <p:spPr>
          <a:xfrm>
            <a:off x="4617720" y="1874520"/>
            <a:ext cx="685800" cy="685800"/>
          </a:xfrm>
          <a:prstGeom prst="ellipse">
            <a:avLst/>
          </a:prstGeom>
          <a:solidFill>
            <a:srgbClr val="13284A"/>
          </a:solidFill>
          <a:ln w="19050">
            <a:solidFill>
              <a:srgbClr val="00B4D8"/>
            </a:solidFill>
            <a:prstDash val="solid"/>
          </a:ln>
        </p:spPr>
      </p:sp>
      <p:pic>
        <p:nvPicPr>
          <p:cNvPr id="11" name="Image 1" descr="preencoded.png">    </p:cNvPr>
          <p:cNvPicPr>
            <a:picLocks noChangeAspect="1"/>
          </p:cNvPicPr>
          <p:nvPr/>
        </p:nvPicPr>
        <p:blipFill>
          <a:blip r:embed="rId2"/>
          <a:stretch>
            <a:fillRect/>
          </a:stretch>
        </p:blipFill>
        <p:spPr>
          <a:xfrm>
            <a:off x="4782312" y="2039112"/>
            <a:ext cx="356616" cy="356616"/>
          </a:xfrm>
          <a:prstGeom prst="rect">
            <a:avLst/>
          </a:prstGeom>
        </p:spPr>
      </p:pic>
      <p:sp>
        <p:nvSpPr>
          <p:cNvPr id="12" name="Text 8"/>
          <p:cNvSpPr/>
          <p:nvPr/>
        </p:nvSpPr>
        <p:spPr>
          <a:xfrm>
            <a:off x="5440680" y="1874520"/>
            <a:ext cx="2240280" cy="6858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Identity &amp; Secrets</a:t>
            </a:r>
            <a:endParaRPr lang="en-US" sz="1600" dirty="0"/>
          </a:p>
        </p:txBody>
      </p:sp>
      <p:sp>
        <p:nvSpPr>
          <p:cNvPr id="13" name="Text 9"/>
          <p:cNvSpPr/>
          <p:nvPr/>
        </p:nvSpPr>
        <p:spPr>
          <a:xfrm>
            <a:off x="4663440" y="2743200"/>
            <a:ext cx="2971800" cy="3108960"/>
          </a:xfrm>
          <a:prstGeom prst="rect">
            <a:avLst/>
          </a:prstGeom>
          <a:noFill/>
          <a:ln/>
        </p:spPr>
        <p:txBody>
          <a:bodyPr wrap="square" lIns="0" tIns="0" rIns="0" bIns="0" rtlCol="0" anchor="ctr"/>
          <a:lstStyle/>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IAM roles, no hardcoded keys</a:t>
            </a:r>
            <a:endParaRPr lang="en-US" sz="1250" dirty="0"/>
          </a:p>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DB password auto-generated</a:t>
            </a:r>
            <a:endParaRPr lang="en-US" sz="1250" dirty="0"/>
          </a:p>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Stored only in Secrets Manager</a:t>
            </a:r>
            <a:endParaRPr lang="en-US" sz="1250" dirty="0"/>
          </a:p>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Scoped per-resource permissions</a:t>
            </a:r>
            <a:endParaRPr lang="en-US" sz="1250" dirty="0"/>
          </a:p>
        </p:txBody>
      </p:sp>
      <p:sp>
        <p:nvSpPr>
          <p:cNvPr id="14" name="Shape 10"/>
          <p:cNvSpPr/>
          <p:nvPr/>
        </p:nvSpPr>
        <p:spPr>
          <a:xfrm>
            <a:off x="8138160" y="1600200"/>
            <a:ext cx="3611880" cy="4434840"/>
          </a:xfrm>
          <a:prstGeom prst="roundRect">
            <a:avLst>
              <a:gd name="adj" fmla="val 3038"/>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5" name="Shape 11"/>
          <p:cNvSpPr/>
          <p:nvPr/>
        </p:nvSpPr>
        <p:spPr>
          <a:xfrm>
            <a:off x="8412480" y="1874520"/>
            <a:ext cx="685800" cy="685800"/>
          </a:xfrm>
          <a:prstGeom prst="ellipse">
            <a:avLst/>
          </a:prstGeom>
          <a:solidFill>
            <a:srgbClr val="13284A"/>
          </a:solidFill>
          <a:ln w="19050">
            <a:solidFill>
              <a:srgbClr val="00B4D8"/>
            </a:solidFill>
            <a:prstDash val="solid"/>
          </a:ln>
        </p:spPr>
      </p:sp>
      <p:pic>
        <p:nvPicPr>
          <p:cNvPr id="16" name="Image 2" descr="preencoded.png">    </p:cNvPr>
          <p:cNvPicPr>
            <a:picLocks noChangeAspect="1"/>
          </p:cNvPicPr>
          <p:nvPr/>
        </p:nvPicPr>
        <p:blipFill>
          <a:blip r:embed="rId3"/>
          <a:stretch>
            <a:fillRect/>
          </a:stretch>
        </p:blipFill>
        <p:spPr>
          <a:xfrm>
            <a:off x="8577072" y="2039112"/>
            <a:ext cx="356616" cy="356616"/>
          </a:xfrm>
          <a:prstGeom prst="rect">
            <a:avLst/>
          </a:prstGeom>
        </p:spPr>
      </p:pic>
      <p:sp>
        <p:nvSpPr>
          <p:cNvPr id="17" name="Text 12"/>
          <p:cNvSpPr/>
          <p:nvPr/>
        </p:nvSpPr>
        <p:spPr>
          <a:xfrm>
            <a:off x="9235440" y="1874520"/>
            <a:ext cx="2240280" cy="6858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Audit &amp; Compliance</a:t>
            </a:r>
            <a:endParaRPr lang="en-US" sz="1600" dirty="0"/>
          </a:p>
        </p:txBody>
      </p:sp>
      <p:sp>
        <p:nvSpPr>
          <p:cNvPr id="18" name="Text 13"/>
          <p:cNvSpPr/>
          <p:nvPr/>
        </p:nvSpPr>
        <p:spPr>
          <a:xfrm>
            <a:off x="8458200" y="2743200"/>
            <a:ext cx="2971800" cy="3108960"/>
          </a:xfrm>
          <a:prstGeom prst="rect">
            <a:avLst/>
          </a:prstGeom>
          <a:noFill/>
          <a:ln/>
        </p:spPr>
        <p:txBody>
          <a:bodyPr wrap="square" lIns="0" tIns="0" rIns="0" bIns="0" rtlCol="0" anchor="ctr"/>
          <a:lstStyle/>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CloudTrail: every API call logged</a:t>
            </a:r>
            <a:endParaRPr lang="en-US" sz="1250" dirty="0"/>
          </a:p>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VPC Flow Logs: all network traffic</a:t>
            </a:r>
            <a:endParaRPr lang="en-US" sz="1250" dirty="0"/>
          </a:p>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Security Hub: CIS Benchmark</a:t>
            </a:r>
            <a:endParaRPr lang="en-US" sz="1250" dirty="0"/>
          </a:p>
          <a:p>
            <a:pPr marL="342900" indent="-342900">
              <a:lnSpc>
                <a:spcPct val="110000"/>
              </a:lnSpc>
              <a:spcAft>
                <a:spcPts val="1200"/>
              </a:spcAft>
              <a:buSzPct val="100000"/>
              <a:buChar char="✓"/>
            </a:pPr>
            <a:r>
              <a:rPr lang="en-US" sz="1250" dirty="0">
                <a:solidFill>
                  <a:srgbClr val="D7DCE8"/>
                </a:solidFill>
                <a:latin typeface="Calibri" pitchFamily="34" charset="0"/>
                <a:ea typeface="Calibri" pitchFamily="34" charset="-122"/>
                <a:cs typeface="Calibri" pitchFamily="34" charset="-120"/>
              </a:rPr>
              <a:t>Multi-region trail coverage</a:t>
            </a:r>
            <a:endParaRPr lang="en-US" sz="1250" dirty="0"/>
          </a:p>
        </p:txBody>
      </p:sp>
      <p:sp>
        <p:nvSpPr>
          <p:cNvPr id="19" name="Text 14"/>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7</a:t>
            </a:r>
            <a:endParaRPr lang="en-US" sz="1000" dirty="0"/>
          </a:p>
        </p:txBody>
      </p:sp>
      <p:sp>
        <p:nvSpPr>
          <p:cNvPr id="20" name="Text 15"/>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3A6"/>
                </a:solidFill>
                <a:latin typeface="Calibri" pitchFamily="34" charset="0"/>
                <a:ea typeface="Calibri" pitchFamily="34" charset="-122"/>
                <a:cs typeface="Calibri" pitchFamily="34" charset="-120"/>
              </a:rPr>
              <a:t>VaultPay Platform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TECHNICAL DEEP DIVE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Observability: Know Before Customers Do</a:t>
            </a:r>
            <a:endParaRPr lang="en-US" sz="3000" dirty="0"/>
          </a:p>
        </p:txBody>
      </p:sp>
      <p:sp>
        <p:nvSpPr>
          <p:cNvPr id="4" name="Shape 2"/>
          <p:cNvSpPr/>
          <p:nvPr/>
        </p:nvSpPr>
        <p:spPr>
          <a:xfrm>
            <a:off x="548640" y="1600200"/>
            <a:ext cx="5212080" cy="4434840"/>
          </a:xfrm>
          <a:prstGeom prst="roundRect">
            <a:avLst>
              <a:gd name="adj" fmla="val 2474"/>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868680" y="1828800"/>
            <a:ext cx="4572000" cy="365760"/>
          </a:xfrm>
          <a:prstGeom prst="rect">
            <a:avLst/>
          </a:prstGeom>
          <a:noFill/>
          <a:ln/>
        </p:spPr>
        <p:txBody>
          <a:bodyPr wrap="square" lIns="0" tIns="0" rIns="0" bIns="0" rtlCol="0" anchor="ctr"/>
          <a:lstStyle/>
          <a:p>
            <a:pPr indent="0" marL="0">
              <a:buNone/>
            </a:pPr>
            <a:r>
              <a:rPr lang="en-US" sz="1700" b="1" dirty="0">
                <a:solidFill>
                  <a:srgbClr val="00B4D8"/>
                </a:solidFill>
                <a:latin typeface="Cambria" pitchFamily="34" charset="0"/>
                <a:ea typeface="Cambria" pitchFamily="34" charset="-122"/>
                <a:cs typeface="Cambria" pitchFamily="34" charset="-120"/>
              </a:rPr>
              <a:t>CloudWatch Dashboard</a:t>
            </a:r>
            <a:endParaRPr lang="en-US" sz="1700" dirty="0"/>
          </a:p>
        </p:txBody>
      </p:sp>
      <p:sp>
        <p:nvSpPr>
          <p:cNvPr id="6" name="Shape 4"/>
          <p:cNvSpPr/>
          <p:nvPr/>
        </p:nvSpPr>
        <p:spPr>
          <a:xfrm>
            <a:off x="868680" y="2377440"/>
            <a:ext cx="457200" cy="457200"/>
          </a:xfrm>
          <a:prstGeom prst="ellipse">
            <a:avLst/>
          </a:prstGeom>
          <a:solidFill>
            <a:srgbClr val="13284A"/>
          </a:solidFill>
          <a:ln w="19050">
            <a:solidFill>
              <a:srgbClr val="00B4D8"/>
            </a:solidFill>
            <a:prstDash val="solid"/>
          </a:ln>
        </p:spPr>
      </p:sp>
      <p:pic>
        <p:nvPicPr>
          <p:cNvPr id="7" name="Image 0" descr="preencoded.png">    </p:cNvPr>
          <p:cNvPicPr>
            <a:picLocks noChangeAspect="1"/>
          </p:cNvPicPr>
          <p:nvPr/>
        </p:nvPicPr>
        <p:blipFill>
          <a:blip r:embed="rId1"/>
          <a:stretch>
            <a:fillRect/>
          </a:stretch>
        </p:blipFill>
        <p:spPr>
          <a:xfrm>
            <a:off x="978408" y="2487168"/>
            <a:ext cx="237744" cy="237744"/>
          </a:xfrm>
          <a:prstGeom prst="rect">
            <a:avLst/>
          </a:prstGeom>
        </p:spPr>
      </p:pic>
      <p:sp>
        <p:nvSpPr>
          <p:cNvPr id="8" name="Text 5"/>
          <p:cNvSpPr/>
          <p:nvPr/>
        </p:nvSpPr>
        <p:spPr>
          <a:xfrm>
            <a:off x="1463040" y="2359152"/>
            <a:ext cx="411480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ALB Request Count (live traffic volume)</a:t>
            </a:r>
            <a:endParaRPr lang="en-US" sz="1250" dirty="0"/>
          </a:p>
        </p:txBody>
      </p:sp>
      <p:sp>
        <p:nvSpPr>
          <p:cNvPr id="9" name="Shape 6"/>
          <p:cNvSpPr/>
          <p:nvPr/>
        </p:nvSpPr>
        <p:spPr>
          <a:xfrm>
            <a:off x="868680" y="2944368"/>
            <a:ext cx="457200" cy="457200"/>
          </a:xfrm>
          <a:prstGeom prst="ellipse">
            <a:avLst/>
          </a:prstGeom>
          <a:solidFill>
            <a:srgbClr val="13284A"/>
          </a:solidFill>
          <a:ln w="19050">
            <a:solidFill>
              <a:srgbClr val="00B4D8"/>
            </a:solidFill>
            <a:prstDash val="solid"/>
          </a:ln>
        </p:spPr>
      </p:sp>
      <p:pic>
        <p:nvPicPr>
          <p:cNvPr id="10" name="Image 1" descr="preencoded.png">    </p:cNvPr>
          <p:cNvPicPr>
            <a:picLocks noChangeAspect="1"/>
          </p:cNvPicPr>
          <p:nvPr/>
        </p:nvPicPr>
        <p:blipFill>
          <a:blip r:embed="rId2"/>
          <a:stretch>
            <a:fillRect/>
          </a:stretch>
        </p:blipFill>
        <p:spPr>
          <a:xfrm>
            <a:off x="978408" y="3054096"/>
            <a:ext cx="237744" cy="237744"/>
          </a:xfrm>
          <a:prstGeom prst="rect">
            <a:avLst/>
          </a:prstGeom>
        </p:spPr>
      </p:pic>
      <p:sp>
        <p:nvSpPr>
          <p:cNvPr id="11" name="Text 7"/>
          <p:cNvSpPr/>
          <p:nvPr/>
        </p:nvSpPr>
        <p:spPr>
          <a:xfrm>
            <a:off x="1463040" y="2926080"/>
            <a:ext cx="411480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Unhealthy Host Count (target group)</a:t>
            </a:r>
            <a:endParaRPr lang="en-US" sz="1250" dirty="0"/>
          </a:p>
        </p:txBody>
      </p:sp>
      <p:sp>
        <p:nvSpPr>
          <p:cNvPr id="12" name="Shape 8"/>
          <p:cNvSpPr/>
          <p:nvPr/>
        </p:nvSpPr>
        <p:spPr>
          <a:xfrm>
            <a:off x="868680" y="3511296"/>
            <a:ext cx="457200" cy="457200"/>
          </a:xfrm>
          <a:prstGeom prst="ellipse">
            <a:avLst/>
          </a:prstGeom>
          <a:solidFill>
            <a:srgbClr val="13284A"/>
          </a:solidFill>
          <a:ln w="19050">
            <a:solidFill>
              <a:srgbClr val="00B4D8"/>
            </a:solidFill>
            <a:prstDash val="solid"/>
          </a:ln>
        </p:spPr>
      </p:sp>
      <p:pic>
        <p:nvPicPr>
          <p:cNvPr id="13" name="Image 2" descr="preencoded.png">    </p:cNvPr>
          <p:cNvPicPr>
            <a:picLocks noChangeAspect="1"/>
          </p:cNvPicPr>
          <p:nvPr/>
        </p:nvPicPr>
        <p:blipFill>
          <a:blip r:embed="rId3"/>
          <a:stretch>
            <a:fillRect/>
          </a:stretch>
        </p:blipFill>
        <p:spPr>
          <a:xfrm>
            <a:off x="978408" y="3621024"/>
            <a:ext cx="237744" cy="237744"/>
          </a:xfrm>
          <a:prstGeom prst="rect">
            <a:avLst/>
          </a:prstGeom>
        </p:spPr>
      </p:pic>
      <p:sp>
        <p:nvSpPr>
          <p:cNvPr id="14" name="Text 9"/>
          <p:cNvSpPr/>
          <p:nvPr/>
        </p:nvSpPr>
        <p:spPr>
          <a:xfrm>
            <a:off x="1463040" y="3493008"/>
            <a:ext cx="411480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Per-instance CPU via /api/metrics in-app</a:t>
            </a:r>
            <a:endParaRPr lang="en-US" sz="1250" dirty="0"/>
          </a:p>
        </p:txBody>
      </p:sp>
      <p:sp>
        <p:nvSpPr>
          <p:cNvPr id="15" name="Shape 10"/>
          <p:cNvSpPr/>
          <p:nvPr/>
        </p:nvSpPr>
        <p:spPr>
          <a:xfrm>
            <a:off x="868680" y="4078224"/>
            <a:ext cx="457200" cy="457200"/>
          </a:xfrm>
          <a:prstGeom prst="ellipse">
            <a:avLst/>
          </a:prstGeom>
          <a:solidFill>
            <a:srgbClr val="13284A"/>
          </a:solidFill>
          <a:ln w="19050">
            <a:solidFill>
              <a:srgbClr val="00B4D8"/>
            </a:solidFill>
            <a:prstDash val="solid"/>
          </a:ln>
        </p:spPr>
      </p:sp>
      <p:pic>
        <p:nvPicPr>
          <p:cNvPr id="16" name="Image 3" descr="preencoded.png">    </p:cNvPr>
          <p:cNvPicPr>
            <a:picLocks noChangeAspect="1"/>
          </p:cNvPicPr>
          <p:nvPr/>
        </p:nvPicPr>
        <p:blipFill>
          <a:blip r:embed="rId4"/>
          <a:stretch>
            <a:fillRect/>
          </a:stretch>
        </p:blipFill>
        <p:spPr>
          <a:xfrm>
            <a:off x="978408" y="4187952"/>
            <a:ext cx="237744" cy="237744"/>
          </a:xfrm>
          <a:prstGeom prst="rect">
            <a:avLst/>
          </a:prstGeom>
        </p:spPr>
      </p:pic>
      <p:sp>
        <p:nvSpPr>
          <p:cNvPr id="17" name="Text 11"/>
          <p:cNvSpPr/>
          <p:nvPr/>
        </p:nvSpPr>
        <p:spPr>
          <a:xfrm>
            <a:off x="1463040" y="4059936"/>
            <a:ext cx="411480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Auto Scaling activity history</a:t>
            </a:r>
            <a:endParaRPr lang="en-US" sz="1250" dirty="0"/>
          </a:p>
        </p:txBody>
      </p:sp>
      <p:sp>
        <p:nvSpPr>
          <p:cNvPr id="18" name="Text 12"/>
          <p:cNvSpPr/>
          <p:nvPr/>
        </p:nvSpPr>
        <p:spPr>
          <a:xfrm>
            <a:off x="868680" y="4846320"/>
            <a:ext cx="4572000" cy="1005840"/>
          </a:xfrm>
          <a:prstGeom prst="rect">
            <a:avLst/>
          </a:prstGeom>
          <a:noFill/>
          <a:ln/>
        </p:spPr>
        <p:txBody>
          <a:bodyPr wrap="square" lIns="0" tIns="0" rIns="0" bIns="0" rtlCol="0" anchor="ctr"/>
          <a:lstStyle/>
          <a:p>
            <a:pPr indent="0" marL="0">
              <a:buNone/>
            </a:pPr>
            <a:r>
              <a:rPr lang="en-US" sz="1150" i="1" dirty="0">
                <a:solidFill>
                  <a:srgbClr val="8A93A6"/>
                </a:solidFill>
                <a:latin typeface="Calibri" pitchFamily="34" charset="0"/>
                <a:ea typeface="Calibri" pitchFamily="34" charset="-122"/>
                <a:cs typeface="Calibri" pitchFamily="34" charset="-120"/>
              </a:rPr>
              <a:t>Tied to the app itself: a "Live Metrics" button in the VaultPay UI calls CloudWatch directly — operators don't even need the AWS console for a quick check.</a:t>
            </a:r>
            <a:endParaRPr lang="en-US" sz="1150" dirty="0"/>
          </a:p>
        </p:txBody>
      </p:sp>
      <p:sp>
        <p:nvSpPr>
          <p:cNvPr id="19" name="Shape 13"/>
          <p:cNvSpPr/>
          <p:nvPr/>
        </p:nvSpPr>
        <p:spPr>
          <a:xfrm>
            <a:off x="6035040" y="1600200"/>
            <a:ext cx="5577840" cy="4434840"/>
          </a:xfrm>
          <a:prstGeom prst="roundRect">
            <a:avLst>
              <a:gd name="adj" fmla="val 2474"/>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20" name="Text 14"/>
          <p:cNvSpPr/>
          <p:nvPr/>
        </p:nvSpPr>
        <p:spPr>
          <a:xfrm>
            <a:off x="6355080" y="1828800"/>
            <a:ext cx="4937760" cy="365760"/>
          </a:xfrm>
          <a:prstGeom prst="rect">
            <a:avLst/>
          </a:prstGeom>
          <a:noFill/>
          <a:ln/>
        </p:spPr>
        <p:txBody>
          <a:bodyPr wrap="square" lIns="0" tIns="0" rIns="0" bIns="0" rtlCol="0" anchor="ctr"/>
          <a:lstStyle/>
          <a:p>
            <a:pPr indent="0" marL="0">
              <a:buNone/>
            </a:pPr>
            <a:r>
              <a:rPr lang="en-US" sz="1700" b="1" dirty="0">
                <a:solidFill>
                  <a:srgbClr val="00FF88"/>
                </a:solidFill>
                <a:latin typeface="Cambria" pitchFamily="34" charset="0"/>
                <a:ea typeface="Cambria" pitchFamily="34" charset="-122"/>
                <a:cs typeface="Cambria" pitchFamily="34" charset="-120"/>
              </a:rPr>
              <a:t>5 Alarms -&gt; SNS Email Alerts</a:t>
            </a:r>
            <a:endParaRPr lang="en-US" sz="1700" dirty="0"/>
          </a:p>
        </p:txBody>
      </p:sp>
      <p:sp>
        <p:nvSpPr>
          <p:cNvPr id="21" name="Shape 15"/>
          <p:cNvSpPr/>
          <p:nvPr/>
        </p:nvSpPr>
        <p:spPr>
          <a:xfrm>
            <a:off x="6355080" y="2377440"/>
            <a:ext cx="4937760" cy="731520"/>
          </a:xfrm>
          <a:prstGeom prst="roundRect">
            <a:avLst>
              <a:gd name="adj" fmla="val 10000"/>
            </a:avLst>
          </a:prstGeom>
          <a:solidFill>
            <a:srgbClr val="0F1C33"/>
          </a:solidFill>
          <a:ln w="12700">
            <a:solidFill>
              <a:srgbClr val="27406B"/>
            </a:solidFill>
            <a:prstDash val="solid"/>
          </a:ln>
        </p:spPr>
      </p:sp>
      <p:sp>
        <p:nvSpPr>
          <p:cNvPr id="22" name="Text 16"/>
          <p:cNvSpPr/>
          <p:nvPr/>
        </p:nvSpPr>
        <p:spPr>
          <a:xfrm>
            <a:off x="6537960" y="2450592"/>
            <a:ext cx="4572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ASG Scale Up</a:t>
            </a:r>
            <a:endParaRPr lang="en-US" sz="1300" dirty="0"/>
          </a:p>
        </p:txBody>
      </p:sp>
      <p:sp>
        <p:nvSpPr>
          <p:cNvPr id="23" name="Text 17"/>
          <p:cNvSpPr/>
          <p:nvPr/>
        </p:nvSpPr>
        <p:spPr>
          <a:xfrm>
            <a:off x="6537960" y="2743200"/>
            <a:ext cx="4572000" cy="292608"/>
          </a:xfrm>
          <a:prstGeom prst="rect">
            <a:avLst/>
          </a:prstGeom>
          <a:noFill/>
          <a:ln/>
        </p:spPr>
        <p:txBody>
          <a:bodyPr wrap="square" lIns="0" tIns="0" rIns="0" bIns="0" rtlCol="0" anchor="ctr"/>
          <a:lstStyle/>
          <a:p>
            <a:pPr indent="0" marL="0">
              <a:buNone/>
            </a:pPr>
            <a:r>
              <a:rPr lang="en-US" sz="1100" dirty="0">
                <a:solidFill>
                  <a:srgbClr val="8A93A6"/>
                </a:solidFill>
                <a:latin typeface="Calibri" pitchFamily="34" charset="0"/>
                <a:ea typeface="Calibri" pitchFamily="34" charset="-122"/>
                <a:cs typeface="Calibri" pitchFamily="34" charset="-120"/>
              </a:rPr>
              <a:t>CPU &gt; 70% for 2 periods -&gt; add instance</a:t>
            </a:r>
            <a:endParaRPr lang="en-US" sz="1100" dirty="0"/>
          </a:p>
        </p:txBody>
      </p:sp>
      <p:sp>
        <p:nvSpPr>
          <p:cNvPr id="24" name="Shape 18"/>
          <p:cNvSpPr/>
          <p:nvPr/>
        </p:nvSpPr>
        <p:spPr>
          <a:xfrm>
            <a:off x="6355080" y="3246120"/>
            <a:ext cx="4937760" cy="731520"/>
          </a:xfrm>
          <a:prstGeom prst="roundRect">
            <a:avLst>
              <a:gd name="adj" fmla="val 10000"/>
            </a:avLst>
          </a:prstGeom>
          <a:solidFill>
            <a:srgbClr val="0F1C33"/>
          </a:solidFill>
          <a:ln w="12700">
            <a:solidFill>
              <a:srgbClr val="27406B"/>
            </a:solidFill>
            <a:prstDash val="solid"/>
          </a:ln>
        </p:spPr>
      </p:sp>
      <p:sp>
        <p:nvSpPr>
          <p:cNvPr id="25" name="Text 19"/>
          <p:cNvSpPr/>
          <p:nvPr/>
        </p:nvSpPr>
        <p:spPr>
          <a:xfrm>
            <a:off x="6537960" y="3319272"/>
            <a:ext cx="4572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ASG Scale Down</a:t>
            </a:r>
            <a:endParaRPr lang="en-US" sz="1300" dirty="0"/>
          </a:p>
        </p:txBody>
      </p:sp>
      <p:sp>
        <p:nvSpPr>
          <p:cNvPr id="26" name="Text 20"/>
          <p:cNvSpPr/>
          <p:nvPr/>
        </p:nvSpPr>
        <p:spPr>
          <a:xfrm>
            <a:off x="6537960" y="3611880"/>
            <a:ext cx="4572000" cy="292608"/>
          </a:xfrm>
          <a:prstGeom prst="rect">
            <a:avLst/>
          </a:prstGeom>
          <a:noFill/>
          <a:ln/>
        </p:spPr>
        <p:txBody>
          <a:bodyPr wrap="square" lIns="0" tIns="0" rIns="0" bIns="0" rtlCol="0" anchor="ctr"/>
          <a:lstStyle/>
          <a:p>
            <a:pPr indent="0" marL="0">
              <a:buNone/>
            </a:pPr>
            <a:r>
              <a:rPr lang="en-US" sz="1100" dirty="0">
                <a:solidFill>
                  <a:srgbClr val="8A93A6"/>
                </a:solidFill>
                <a:latin typeface="Calibri" pitchFamily="34" charset="0"/>
                <a:ea typeface="Calibri" pitchFamily="34" charset="-122"/>
                <a:cs typeface="Calibri" pitchFamily="34" charset="-120"/>
              </a:rPr>
              <a:t>CPU &lt; 20% for 2 periods -&gt; remove instance</a:t>
            </a:r>
            <a:endParaRPr lang="en-US" sz="1100" dirty="0"/>
          </a:p>
        </p:txBody>
      </p:sp>
      <p:sp>
        <p:nvSpPr>
          <p:cNvPr id="27" name="Shape 21"/>
          <p:cNvSpPr/>
          <p:nvPr/>
        </p:nvSpPr>
        <p:spPr>
          <a:xfrm>
            <a:off x="6355080" y="4114800"/>
            <a:ext cx="4937760" cy="731520"/>
          </a:xfrm>
          <a:prstGeom prst="roundRect">
            <a:avLst>
              <a:gd name="adj" fmla="val 10000"/>
            </a:avLst>
          </a:prstGeom>
          <a:solidFill>
            <a:srgbClr val="0F1C33"/>
          </a:solidFill>
          <a:ln w="12700">
            <a:solidFill>
              <a:srgbClr val="27406B"/>
            </a:solidFill>
            <a:prstDash val="solid"/>
          </a:ln>
        </p:spPr>
      </p:sp>
      <p:sp>
        <p:nvSpPr>
          <p:cNvPr id="28" name="Text 22"/>
          <p:cNvSpPr/>
          <p:nvPr/>
        </p:nvSpPr>
        <p:spPr>
          <a:xfrm>
            <a:off x="6537960" y="4187952"/>
            <a:ext cx="4572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Unhealthy Hosts</a:t>
            </a:r>
            <a:endParaRPr lang="en-US" sz="1300" dirty="0"/>
          </a:p>
        </p:txBody>
      </p:sp>
      <p:sp>
        <p:nvSpPr>
          <p:cNvPr id="29" name="Text 23"/>
          <p:cNvSpPr/>
          <p:nvPr/>
        </p:nvSpPr>
        <p:spPr>
          <a:xfrm>
            <a:off x="6537960" y="4480560"/>
            <a:ext cx="4572000" cy="292608"/>
          </a:xfrm>
          <a:prstGeom prst="rect">
            <a:avLst/>
          </a:prstGeom>
          <a:noFill/>
          <a:ln/>
        </p:spPr>
        <p:txBody>
          <a:bodyPr wrap="square" lIns="0" tIns="0" rIns="0" bIns="0" rtlCol="0" anchor="ctr"/>
          <a:lstStyle/>
          <a:p>
            <a:pPr indent="0" marL="0">
              <a:buNone/>
            </a:pPr>
            <a:r>
              <a:rPr lang="en-US" sz="1100" dirty="0">
                <a:solidFill>
                  <a:srgbClr val="8A93A6"/>
                </a:solidFill>
                <a:latin typeface="Calibri" pitchFamily="34" charset="0"/>
                <a:ea typeface="Calibri" pitchFamily="34" charset="-122"/>
                <a:cs typeface="Calibri" pitchFamily="34" charset="-120"/>
              </a:rPr>
              <a:t>Any target failing health checks</a:t>
            </a:r>
            <a:endParaRPr lang="en-US" sz="1100" dirty="0"/>
          </a:p>
        </p:txBody>
      </p:sp>
      <p:sp>
        <p:nvSpPr>
          <p:cNvPr id="30" name="Shape 24"/>
          <p:cNvSpPr/>
          <p:nvPr/>
        </p:nvSpPr>
        <p:spPr>
          <a:xfrm>
            <a:off x="6355080" y="4983480"/>
            <a:ext cx="4937760" cy="731520"/>
          </a:xfrm>
          <a:prstGeom prst="roundRect">
            <a:avLst>
              <a:gd name="adj" fmla="val 10000"/>
            </a:avLst>
          </a:prstGeom>
          <a:solidFill>
            <a:srgbClr val="0F1C33"/>
          </a:solidFill>
          <a:ln w="12700">
            <a:solidFill>
              <a:srgbClr val="27406B"/>
            </a:solidFill>
            <a:prstDash val="solid"/>
          </a:ln>
        </p:spPr>
      </p:sp>
      <p:sp>
        <p:nvSpPr>
          <p:cNvPr id="31" name="Text 25"/>
          <p:cNvSpPr/>
          <p:nvPr/>
        </p:nvSpPr>
        <p:spPr>
          <a:xfrm>
            <a:off x="6537960" y="5056632"/>
            <a:ext cx="4572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ALB 5xx Errors</a:t>
            </a:r>
            <a:endParaRPr lang="en-US" sz="1300" dirty="0"/>
          </a:p>
        </p:txBody>
      </p:sp>
      <p:sp>
        <p:nvSpPr>
          <p:cNvPr id="32" name="Text 26"/>
          <p:cNvSpPr/>
          <p:nvPr/>
        </p:nvSpPr>
        <p:spPr>
          <a:xfrm>
            <a:off x="6537960" y="5349240"/>
            <a:ext cx="4572000" cy="292608"/>
          </a:xfrm>
          <a:prstGeom prst="rect">
            <a:avLst/>
          </a:prstGeom>
          <a:noFill/>
          <a:ln/>
        </p:spPr>
        <p:txBody>
          <a:bodyPr wrap="square" lIns="0" tIns="0" rIns="0" bIns="0" rtlCol="0" anchor="ctr"/>
          <a:lstStyle/>
          <a:p>
            <a:pPr indent="0" marL="0">
              <a:buNone/>
            </a:pPr>
            <a:r>
              <a:rPr lang="en-US" sz="1100" dirty="0">
                <a:solidFill>
                  <a:srgbClr val="8A93A6"/>
                </a:solidFill>
                <a:latin typeface="Calibri" pitchFamily="34" charset="0"/>
                <a:ea typeface="Calibri" pitchFamily="34" charset="-122"/>
                <a:cs typeface="Calibri" pitchFamily="34" charset="-120"/>
              </a:rPr>
              <a:t>More than 10 server errors / minute</a:t>
            </a:r>
            <a:endParaRPr lang="en-US" sz="1100" dirty="0"/>
          </a:p>
        </p:txBody>
      </p:sp>
      <p:sp>
        <p:nvSpPr>
          <p:cNvPr id="33" name="Text 27"/>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8</a:t>
            </a:r>
            <a:endParaRPr lang="en-US" sz="1000" dirty="0"/>
          </a:p>
        </p:txBody>
      </p:sp>
      <p:sp>
        <p:nvSpPr>
          <p:cNvPr id="34" name="Text 28"/>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3A6"/>
                </a:solidFill>
                <a:latin typeface="Calibri" pitchFamily="34" charset="0"/>
                <a:ea typeface="Calibri" pitchFamily="34" charset="-122"/>
                <a:cs typeface="Calibri" pitchFamily="34" charset="-120"/>
              </a:rPr>
              <a:t>VaultPay Platform</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TECHNICAL DEEP DIVE</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CI/CD: Infrastructure Changes via GitOps</a:t>
            </a:r>
            <a:endParaRPr lang="en-US" sz="3000" dirty="0"/>
          </a:p>
        </p:txBody>
      </p:sp>
      <p:sp>
        <p:nvSpPr>
          <p:cNvPr id="4" name="Shape 2"/>
          <p:cNvSpPr/>
          <p:nvPr/>
        </p:nvSpPr>
        <p:spPr>
          <a:xfrm>
            <a:off x="548640" y="1783080"/>
            <a:ext cx="2057400" cy="1005840"/>
          </a:xfrm>
          <a:prstGeom prst="roundRect">
            <a:avLst>
              <a:gd name="adj" fmla="val 9091"/>
            </a:avLst>
          </a:prstGeom>
          <a:solidFill>
            <a:srgbClr val="16213E"/>
          </a:solidFill>
          <a:ln w="15875">
            <a:solidFill>
              <a:srgbClr val="27406B"/>
            </a:solidFill>
            <a:prstDash val="solid"/>
          </a:ln>
        </p:spPr>
      </p:sp>
      <p:sp>
        <p:nvSpPr>
          <p:cNvPr id="5" name="Text 3"/>
          <p:cNvSpPr/>
          <p:nvPr/>
        </p:nvSpPr>
        <p:spPr>
          <a:xfrm>
            <a:off x="640080" y="1783080"/>
            <a:ext cx="187452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git push</a:t>
            </a:r>
            <a:endParaRPr lang="en-US" sz="1300" dirty="0"/>
          </a:p>
        </p:txBody>
      </p:sp>
      <p:sp>
        <p:nvSpPr>
          <p:cNvPr id="6" name="Shape 4"/>
          <p:cNvSpPr/>
          <p:nvPr/>
        </p:nvSpPr>
        <p:spPr>
          <a:xfrm>
            <a:off x="2624328" y="2286000"/>
            <a:ext cx="164592" cy="0"/>
          </a:xfrm>
          <a:prstGeom prst="line">
            <a:avLst/>
          </a:prstGeom>
          <a:noFill/>
          <a:ln w="25400">
            <a:solidFill>
              <a:srgbClr val="00B4D8"/>
            </a:solidFill>
            <a:prstDash val="solid"/>
          </a:ln>
        </p:spPr>
      </p:sp>
      <p:sp>
        <p:nvSpPr>
          <p:cNvPr id="7" name="Shape 5"/>
          <p:cNvSpPr/>
          <p:nvPr/>
        </p:nvSpPr>
        <p:spPr>
          <a:xfrm>
            <a:off x="2807208" y="1783080"/>
            <a:ext cx="2057400" cy="1005840"/>
          </a:xfrm>
          <a:prstGeom prst="roundRect">
            <a:avLst>
              <a:gd name="adj" fmla="val 9091"/>
            </a:avLst>
          </a:prstGeom>
          <a:solidFill>
            <a:srgbClr val="16213E"/>
          </a:solidFill>
          <a:ln w="15875">
            <a:solidFill>
              <a:srgbClr val="27406B"/>
            </a:solidFill>
            <a:prstDash val="solid"/>
          </a:ln>
        </p:spPr>
      </p:sp>
      <p:sp>
        <p:nvSpPr>
          <p:cNvPr id="8" name="Text 6"/>
          <p:cNvSpPr/>
          <p:nvPr/>
        </p:nvSpPr>
        <p:spPr>
          <a:xfrm>
            <a:off x="2898648" y="1783080"/>
            <a:ext cx="187452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Checkout &amp; Setup</a:t>
            </a:r>
            <a:endParaRPr lang="en-US" sz="1300" dirty="0"/>
          </a:p>
        </p:txBody>
      </p:sp>
      <p:sp>
        <p:nvSpPr>
          <p:cNvPr id="9" name="Shape 7"/>
          <p:cNvSpPr/>
          <p:nvPr/>
        </p:nvSpPr>
        <p:spPr>
          <a:xfrm>
            <a:off x="4882896" y="2286000"/>
            <a:ext cx="164592" cy="0"/>
          </a:xfrm>
          <a:prstGeom prst="line">
            <a:avLst/>
          </a:prstGeom>
          <a:noFill/>
          <a:ln w="25400">
            <a:solidFill>
              <a:srgbClr val="00B4D8"/>
            </a:solidFill>
            <a:prstDash val="solid"/>
          </a:ln>
        </p:spPr>
      </p:sp>
      <p:sp>
        <p:nvSpPr>
          <p:cNvPr id="10" name="Shape 8"/>
          <p:cNvSpPr/>
          <p:nvPr/>
        </p:nvSpPr>
        <p:spPr>
          <a:xfrm>
            <a:off x="5065776" y="1783080"/>
            <a:ext cx="2057400" cy="1005840"/>
          </a:xfrm>
          <a:prstGeom prst="roundRect">
            <a:avLst>
              <a:gd name="adj" fmla="val 9091"/>
            </a:avLst>
          </a:prstGeom>
          <a:solidFill>
            <a:srgbClr val="16213E"/>
          </a:solidFill>
          <a:ln w="15875">
            <a:solidFill>
              <a:srgbClr val="27406B"/>
            </a:solidFill>
            <a:prstDash val="solid"/>
          </a:ln>
        </p:spPr>
      </p:sp>
      <p:sp>
        <p:nvSpPr>
          <p:cNvPr id="11" name="Text 9"/>
          <p:cNvSpPr/>
          <p:nvPr/>
        </p:nvSpPr>
        <p:spPr>
          <a:xfrm>
            <a:off x="5157216" y="1783080"/>
            <a:ext cx="187452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terraform fmt -check</a:t>
            </a:r>
            <a:endParaRPr lang="en-US" sz="1300" dirty="0"/>
          </a:p>
        </p:txBody>
      </p:sp>
      <p:sp>
        <p:nvSpPr>
          <p:cNvPr id="12" name="Shape 10"/>
          <p:cNvSpPr/>
          <p:nvPr/>
        </p:nvSpPr>
        <p:spPr>
          <a:xfrm>
            <a:off x="7141464" y="2286000"/>
            <a:ext cx="164592" cy="0"/>
          </a:xfrm>
          <a:prstGeom prst="line">
            <a:avLst/>
          </a:prstGeom>
          <a:noFill/>
          <a:ln w="25400">
            <a:solidFill>
              <a:srgbClr val="00B4D8"/>
            </a:solidFill>
            <a:prstDash val="solid"/>
          </a:ln>
        </p:spPr>
      </p:sp>
      <p:sp>
        <p:nvSpPr>
          <p:cNvPr id="13" name="Shape 11"/>
          <p:cNvSpPr/>
          <p:nvPr/>
        </p:nvSpPr>
        <p:spPr>
          <a:xfrm>
            <a:off x="7324344" y="1783080"/>
            <a:ext cx="2057400" cy="1005840"/>
          </a:xfrm>
          <a:prstGeom prst="roundRect">
            <a:avLst>
              <a:gd name="adj" fmla="val 9091"/>
            </a:avLst>
          </a:prstGeom>
          <a:solidFill>
            <a:srgbClr val="16213E"/>
          </a:solidFill>
          <a:ln w="15875">
            <a:solidFill>
              <a:srgbClr val="27406B"/>
            </a:solidFill>
            <a:prstDash val="solid"/>
          </a:ln>
        </p:spPr>
      </p:sp>
      <p:sp>
        <p:nvSpPr>
          <p:cNvPr id="14" name="Text 12"/>
          <p:cNvSpPr/>
          <p:nvPr/>
        </p:nvSpPr>
        <p:spPr>
          <a:xfrm>
            <a:off x="7415784" y="1783080"/>
            <a:ext cx="187452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terraform validate</a:t>
            </a:r>
            <a:endParaRPr lang="en-US" sz="1300" dirty="0"/>
          </a:p>
        </p:txBody>
      </p:sp>
      <p:sp>
        <p:nvSpPr>
          <p:cNvPr id="15" name="Shape 13"/>
          <p:cNvSpPr/>
          <p:nvPr/>
        </p:nvSpPr>
        <p:spPr>
          <a:xfrm>
            <a:off x="9400032" y="2286000"/>
            <a:ext cx="164592" cy="0"/>
          </a:xfrm>
          <a:prstGeom prst="line">
            <a:avLst/>
          </a:prstGeom>
          <a:noFill/>
          <a:ln w="25400">
            <a:solidFill>
              <a:srgbClr val="00B4D8"/>
            </a:solidFill>
            <a:prstDash val="solid"/>
          </a:ln>
        </p:spPr>
      </p:sp>
      <p:sp>
        <p:nvSpPr>
          <p:cNvPr id="16" name="Shape 14"/>
          <p:cNvSpPr/>
          <p:nvPr/>
        </p:nvSpPr>
        <p:spPr>
          <a:xfrm>
            <a:off x="9582912" y="1783080"/>
            <a:ext cx="2057400" cy="1005840"/>
          </a:xfrm>
          <a:prstGeom prst="roundRect">
            <a:avLst>
              <a:gd name="adj" fmla="val 9091"/>
            </a:avLst>
          </a:prstGeom>
          <a:solidFill>
            <a:srgbClr val="0B2A22"/>
          </a:solidFill>
          <a:ln w="15875">
            <a:solidFill>
              <a:srgbClr val="00FF88"/>
            </a:solidFill>
            <a:prstDash val="solid"/>
          </a:ln>
        </p:spPr>
      </p:sp>
      <p:sp>
        <p:nvSpPr>
          <p:cNvPr id="17" name="Text 15"/>
          <p:cNvSpPr/>
          <p:nvPr/>
        </p:nvSpPr>
        <p:spPr>
          <a:xfrm>
            <a:off x="9674352" y="1783080"/>
            <a:ext cx="1874520" cy="1005840"/>
          </a:xfrm>
          <a:prstGeom prst="rect">
            <a:avLst/>
          </a:prstGeom>
          <a:noFill/>
          <a:ln/>
        </p:spPr>
        <p:txBody>
          <a:bodyPr wrap="square" lIns="0" tIns="0" rIns="0" bIns="0" rtlCol="0" anchor="ctr"/>
          <a:lstStyle/>
          <a:p>
            <a:pPr algn="ctr" indent="0" marL="0">
              <a:buNone/>
            </a:pPr>
            <a:r>
              <a:rPr lang="en-US" sz="1300" b="1" dirty="0">
                <a:solidFill>
                  <a:srgbClr val="00FF88"/>
                </a:solidFill>
                <a:latin typeface="Calibri" pitchFamily="34" charset="0"/>
                <a:ea typeface="Calibri" pitchFamily="34" charset="-122"/>
                <a:cs typeface="Calibri" pitchFamily="34" charset="-120"/>
              </a:rPr>
              <a:t>terraform plan</a:t>
            </a:r>
            <a:endParaRPr lang="en-US" sz="1300" dirty="0"/>
          </a:p>
        </p:txBody>
      </p:sp>
      <p:sp>
        <p:nvSpPr>
          <p:cNvPr id="18" name="Shape 16"/>
          <p:cNvSpPr/>
          <p:nvPr/>
        </p:nvSpPr>
        <p:spPr>
          <a:xfrm>
            <a:off x="548640" y="3154680"/>
            <a:ext cx="5349240" cy="2880360"/>
          </a:xfrm>
          <a:prstGeom prst="roundRect">
            <a:avLst>
              <a:gd name="adj" fmla="val 3810"/>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868680" y="3383280"/>
            <a:ext cx="4754880" cy="365760"/>
          </a:xfrm>
          <a:prstGeom prst="rect">
            <a:avLst/>
          </a:prstGeom>
          <a:noFill/>
          <a:ln/>
        </p:spPr>
        <p:txBody>
          <a:bodyPr wrap="square" lIns="0" tIns="0" rIns="0" bIns="0" rtlCol="0" anchor="ctr"/>
          <a:lstStyle/>
          <a:p>
            <a:pPr indent="0" marL="0">
              <a:buNone/>
            </a:pPr>
            <a:r>
              <a:rPr lang="en-US" sz="1600" b="1" dirty="0">
                <a:solidFill>
                  <a:srgbClr val="00B4D8"/>
                </a:solidFill>
                <a:latin typeface="Cambria" pitchFamily="34" charset="0"/>
                <a:ea typeface="Cambria" pitchFamily="34" charset="-122"/>
                <a:cs typeface="Cambria" pitchFamily="34" charset="-120"/>
              </a:rPr>
              <a:t>Why GitOps Matters</a:t>
            </a:r>
            <a:endParaRPr lang="en-US" sz="1600" dirty="0"/>
          </a:p>
        </p:txBody>
      </p:sp>
      <p:sp>
        <p:nvSpPr>
          <p:cNvPr id="20" name="Text 18"/>
          <p:cNvSpPr/>
          <p:nvPr/>
        </p:nvSpPr>
        <p:spPr>
          <a:xfrm>
            <a:off x="868680" y="3840480"/>
            <a:ext cx="4754880" cy="210312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D7DCE8"/>
                </a:solidFill>
                <a:latin typeface="Calibri" pitchFamily="34" charset="0"/>
                <a:ea typeface="Calibri" pitchFamily="34" charset="-122"/>
                <a:cs typeface="Calibri" pitchFamily="34" charset="-120"/>
              </a:rPr>
              <a:t>Every infrastructure change is reviewed in a pull request, never applied by hand</a:t>
            </a:r>
            <a:endParaRPr lang="en-US" sz="1250" dirty="0"/>
          </a:p>
          <a:p>
            <a:pPr marL="342900" indent="-342900">
              <a:spcAft>
                <a:spcPts val="1000"/>
              </a:spcAft>
              <a:buSzPct val="100000"/>
              <a:buChar char="•"/>
            </a:pPr>
            <a:r>
              <a:rPr lang="en-US" sz="1250" dirty="0">
                <a:solidFill>
                  <a:srgbClr val="D7DCE8"/>
                </a:solidFill>
                <a:latin typeface="Calibri" pitchFamily="34" charset="0"/>
                <a:ea typeface="Calibri" pitchFamily="34" charset="-122"/>
                <a:cs typeface="Calibri" pitchFamily="34" charset="-120"/>
              </a:rPr>
              <a:t>terraform fmt and validate catch syntax errors before they reach AWS</a:t>
            </a:r>
            <a:endParaRPr lang="en-US" sz="1250" dirty="0"/>
          </a:p>
          <a:p>
            <a:pPr marL="342900" indent="-342900">
              <a:spcAft>
                <a:spcPts val="1000"/>
              </a:spcAft>
              <a:buSzPct val="100000"/>
              <a:buChar char="•"/>
            </a:pPr>
            <a:r>
              <a:rPr lang="en-US" sz="1250" dirty="0">
                <a:solidFill>
                  <a:srgbClr val="D7DCE8"/>
                </a:solidFill>
                <a:latin typeface="Calibri" pitchFamily="34" charset="0"/>
                <a:ea typeface="Calibri" pitchFamily="34" charset="-122"/>
                <a:cs typeface="Calibri" pitchFamily="34" charset="-120"/>
              </a:rPr>
              <a:t>AWS credentials live only as encrypted GitHub Secrets, never in code</a:t>
            </a:r>
            <a:endParaRPr lang="en-US" sz="1250" dirty="0"/>
          </a:p>
          <a:p>
            <a:pPr marL="342900" indent="-342900">
              <a:buSzPct val="100000"/>
              <a:buChar char="•"/>
            </a:pPr>
            <a:r>
              <a:rPr lang="en-US" sz="1250" dirty="0">
                <a:solidFill>
                  <a:srgbClr val="D7DCE8"/>
                </a:solidFill>
                <a:latin typeface="Calibri" pitchFamily="34" charset="0"/>
                <a:ea typeface="Calibri" pitchFamily="34" charset="-122"/>
                <a:cs typeface="Calibri" pitchFamily="34" charset="-120"/>
              </a:rPr>
              <a:t>Full history of who changed what, and why, in Git</a:t>
            </a:r>
            <a:endParaRPr lang="en-US" sz="1250" dirty="0"/>
          </a:p>
        </p:txBody>
      </p:sp>
      <p:sp>
        <p:nvSpPr>
          <p:cNvPr id="21" name="Shape 19"/>
          <p:cNvSpPr/>
          <p:nvPr/>
        </p:nvSpPr>
        <p:spPr>
          <a:xfrm>
            <a:off x="6080760" y="3154680"/>
            <a:ext cx="5532120" cy="2880360"/>
          </a:xfrm>
          <a:prstGeom prst="roundRect">
            <a:avLst>
              <a:gd name="adj" fmla="val 3810"/>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22" name="Text 20"/>
          <p:cNvSpPr/>
          <p:nvPr/>
        </p:nvSpPr>
        <p:spPr>
          <a:xfrm>
            <a:off x="6400800" y="3383280"/>
            <a:ext cx="4937760" cy="365760"/>
          </a:xfrm>
          <a:prstGeom prst="rect">
            <a:avLst/>
          </a:prstGeom>
          <a:noFill/>
          <a:ln/>
        </p:spPr>
        <p:txBody>
          <a:bodyPr wrap="square" lIns="0" tIns="0" rIns="0" bIns="0" rtlCol="0" anchor="ctr"/>
          <a:lstStyle/>
          <a:p>
            <a:pPr indent="0" marL="0">
              <a:buNone/>
            </a:pPr>
            <a:r>
              <a:rPr lang="en-US" sz="1600" b="1" dirty="0">
                <a:solidFill>
                  <a:srgbClr val="00FF88"/>
                </a:solidFill>
                <a:latin typeface="Cambria" pitchFamily="34" charset="0"/>
                <a:ea typeface="Cambria" pitchFamily="34" charset="-122"/>
                <a:cs typeface="Cambria" pitchFamily="34" charset="-120"/>
              </a:rPr>
              <a:t>Pipeline Status</a:t>
            </a:r>
            <a:endParaRPr lang="en-US" sz="1600" dirty="0"/>
          </a:p>
        </p:txBody>
      </p:sp>
      <p:sp>
        <p:nvSpPr>
          <p:cNvPr id="23" name="Shape 21"/>
          <p:cNvSpPr/>
          <p:nvPr/>
        </p:nvSpPr>
        <p:spPr>
          <a:xfrm>
            <a:off x="6400800" y="3886200"/>
            <a:ext cx="640080" cy="640080"/>
          </a:xfrm>
          <a:prstGeom prst="ellipse">
            <a:avLst/>
          </a:prstGeom>
          <a:solidFill>
            <a:srgbClr val="13284A"/>
          </a:solidFill>
          <a:ln w="19050">
            <a:solidFill>
              <a:srgbClr val="00FF88"/>
            </a:solidFill>
            <a:prstDash val="solid"/>
          </a:ln>
        </p:spPr>
      </p:sp>
      <p:pic>
        <p:nvPicPr>
          <p:cNvPr id="24" name="Image 0" descr="preencoded.png">    </p:cNvPr>
          <p:cNvPicPr>
            <a:picLocks noChangeAspect="1"/>
          </p:cNvPicPr>
          <p:nvPr/>
        </p:nvPicPr>
        <p:blipFill>
          <a:blip r:embed="rId1"/>
          <a:stretch>
            <a:fillRect/>
          </a:stretch>
        </p:blipFill>
        <p:spPr>
          <a:xfrm>
            <a:off x="6554419" y="4039819"/>
            <a:ext cx="332842" cy="332842"/>
          </a:xfrm>
          <a:prstGeom prst="rect">
            <a:avLst/>
          </a:prstGeom>
        </p:spPr>
      </p:pic>
      <p:sp>
        <p:nvSpPr>
          <p:cNvPr id="25" name="Text 22"/>
          <p:cNvSpPr/>
          <p:nvPr/>
        </p:nvSpPr>
        <p:spPr>
          <a:xfrm>
            <a:off x="7223760" y="3931920"/>
            <a:ext cx="4114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All checks passing</a:t>
            </a:r>
            <a:endParaRPr lang="en-US" sz="1500" dirty="0"/>
          </a:p>
        </p:txBody>
      </p:sp>
      <p:sp>
        <p:nvSpPr>
          <p:cNvPr id="26" name="Text 23"/>
          <p:cNvSpPr/>
          <p:nvPr/>
        </p:nvSpPr>
        <p:spPr>
          <a:xfrm>
            <a:off x="7223760" y="4251960"/>
            <a:ext cx="4114800" cy="274320"/>
          </a:xfrm>
          <a:prstGeom prst="rect">
            <a:avLst/>
          </a:prstGeom>
          <a:noFill/>
          <a:ln/>
        </p:spPr>
        <p:txBody>
          <a:bodyPr wrap="square" lIns="0" tIns="0" rIns="0" bIns="0" rtlCol="0" anchor="ctr"/>
          <a:lstStyle/>
          <a:p>
            <a:pPr indent="0" marL="0">
              <a:buNone/>
            </a:pPr>
            <a:r>
              <a:rPr lang="en-US" sz="1100" dirty="0">
                <a:solidFill>
                  <a:srgbClr val="8A93A6"/>
                </a:solidFill>
                <a:latin typeface="Calibri" pitchFamily="34" charset="0"/>
                <a:ea typeface="Calibri" pitchFamily="34" charset="-122"/>
                <a:cs typeface="Calibri" pitchFamily="34" charset="-120"/>
              </a:rPr>
              <a:t>terraform.yml — GitHub Actions</a:t>
            </a:r>
            <a:endParaRPr lang="en-US" sz="1100" dirty="0"/>
          </a:p>
        </p:txBody>
      </p:sp>
      <p:sp>
        <p:nvSpPr>
          <p:cNvPr id="27" name="Text 24"/>
          <p:cNvSpPr/>
          <p:nvPr/>
        </p:nvSpPr>
        <p:spPr>
          <a:xfrm>
            <a:off x="6400800" y="4709160"/>
            <a:ext cx="4937760" cy="1188720"/>
          </a:xfrm>
          <a:prstGeom prst="rect">
            <a:avLst/>
          </a:prstGeom>
          <a:noFill/>
          <a:ln/>
        </p:spPr>
        <p:txBody>
          <a:bodyPr wrap="square" lIns="0" tIns="0" rIns="0" bIns="0" rtlCol="0" anchor="ctr"/>
          <a:lstStyle/>
          <a:p>
            <a:pPr indent="0" marL="0">
              <a:buNone/>
            </a:pPr>
            <a:r>
              <a:rPr lang="en-US" sz="1200" i="1" dirty="0">
                <a:solidFill>
                  <a:srgbClr val="C7CEDC"/>
                </a:solidFill>
                <a:latin typeface="Calibri" pitchFamily="34" charset="0"/>
                <a:ea typeface="Calibri" pitchFamily="34" charset="-122"/>
                <a:cs typeface="Calibri" pitchFamily="34" charset="-120"/>
              </a:rPr>
              <a:t>Runs automatically on every push to main and on every pull request — format, validate, and plan, before any change touches production infrastructure.</a:t>
            </a:r>
            <a:endParaRPr lang="en-US" sz="1200" dirty="0"/>
          </a:p>
        </p:txBody>
      </p:sp>
      <p:sp>
        <p:nvSpPr>
          <p:cNvPr id="28" name="Text 25"/>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9</a:t>
            </a:r>
            <a:endParaRPr lang="en-US" sz="1000" dirty="0"/>
          </a:p>
        </p:txBody>
      </p:sp>
      <p:sp>
        <p:nvSpPr>
          <p:cNvPr id="29" name="Text 26"/>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3A6"/>
                </a:solidFill>
                <a:latin typeface="Calibri" pitchFamily="34" charset="0"/>
                <a:ea typeface="Calibri" pitchFamily="34" charset="-122"/>
                <a:cs typeface="Calibri" pitchFamily="34" charset="-120"/>
              </a:rPr>
              <a:t>VaultPay Platform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E94560"/>
                </a:solidFill>
                <a:latin typeface="Calibri" pitchFamily="34" charset="0"/>
                <a:ea typeface="Calibri" pitchFamily="34" charset="-122"/>
                <a:cs typeface="Calibri" pitchFamily="34" charset="-120"/>
              </a:rPr>
              <a:t>CHALLENGES &amp; LEARNING</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Went Wrong (and How I Fixed It)</a:t>
            </a:r>
            <a:endParaRPr lang="en-US" sz="3000" dirty="0"/>
          </a:p>
        </p:txBody>
      </p:sp>
      <p:sp>
        <p:nvSpPr>
          <p:cNvPr id="4" name="Shape 2"/>
          <p:cNvSpPr/>
          <p:nvPr/>
        </p:nvSpPr>
        <p:spPr>
          <a:xfrm>
            <a:off x="548640" y="1600200"/>
            <a:ext cx="3611880" cy="4480560"/>
          </a:xfrm>
          <a:prstGeom prst="roundRect">
            <a:avLst>
              <a:gd name="adj" fmla="val 3038"/>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5" name="Shape 3"/>
          <p:cNvSpPr/>
          <p:nvPr/>
        </p:nvSpPr>
        <p:spPr>
          <a:xfrm>
            <a:off x="777240" y="1828800"/>
            <a:ext cx="548640" cy="548640"/>
          </a:xfrm>
          <a:prstGeom prst="ellipse">
            <a:avLst/>
          </a:prstGeom>
          <a:solidFill>
            <a:srgbClr val="13284A"/>
          </a:solidFill>
          <a:ln w="19050">
            <a:solidFill>
              <a:srgbClr val="E94560"/>
            </a:solidFill>
            <a:prstDash val="solid"/>
          </a:ln>
        </p:spPr>
      </p:sp>
      <p:pic>
        <p:nvPicPr>
          <p:cNvPr id="6" name="Image 0" descr="preencoded.png">    </p:cNvPr>
          <p:cNvPicPr>
            <a:picLocks noChangeAspect="1"/>
          </p:cNvPicPr>
          <p:nvPr/>
        </p:nvPicPr>
        <p:blipFill>
          <a:blip r:embed="rId1"/>
          <a:stretch>
            <a:fillRect/>
          </a:stretch>
        </p:blipFill>
        <p:spPr>
          <a:xfrm>
            <a:off x="908914" y="1960474"/>
            <a:ext cx="285293" cy="285293"/>
          </a:xfrm>
          <a:prstGeom prst="rect">
            <a:avLst/>
          </a:prstGeom>
        </p:spPr>
      </p:pic>
      <p:sp>
        <p:nvSpPr>
          <p:cNvPr id="7" name="Text 4"/>
          <p:cNvSpPr/>
          <p:nvPr/>
        </p:nvSpPr>
        <p:spPr>
          <a:xfrm>
            <a:off x="1463040" y="1828800"/>
            <a:ext cx="2468880" cy="5486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502 Bad Gateway Mystery</a:t>
            </a:r>
            <a:endParaRPr lang="en-US" sz="1350" dirty="0"/>
          </a:p>
        </p:txBody>
      </p:sp>
      <p:sp>
        <p:nvSpPr>
          <p:cNvPr id="8" name="Text 5"/>
          <p:cNvSpPr/>
          <p:nvPr/>
        </p:nvSpPr>
        <p:spPr>
          <a:xfrm>
            <a:off x="822960" y="2560320"/>
            <a:ext cx="3063240" cy="822960"/>
          </a:xfrm>
          <a:prstGeom prst="rect">
            <a:avLst/>
          </a:prstGeom>
          <a:noFill/>
          <a:ln/>
        </p:spPr>
        <p:txBody>
          <a:bodyPr wrap="square" lIns="0" tIns="0" rIns="0" bIns="0" rtlCol="0" anchor="ctr"/>
          <a:lstStyle/>
          <a:p>
            <a:pPr indent="0" marL="0">
              <a:buNone/>
            </a:pPr>
            <a:r>
              <a:rPr lang="en-US" sz="1100" dirty="0">
                <a:solidFill>
                  <a:srgbClr val="C7CEDC"/>
                </a:solidFill>
                <a:latin typeface="Calibri" pitchFamily="34" charset="0"/>
                <a:ea typeface="Calibri" pitchFamily="34" charset="-122"/>
                <a:cs typeface="Calibri" pitchFamily="34" charset="-120"/>
              </a:rPr>
              <a:t>After updating the app to connect to RDS, all instances returned 502s.</a:t>
            </a:r>
            <a:endParaRPr lang="en-US" sz="1100" dirty="0"/>
          </a:p>
        </p:txBody>
      </p:sp>
      <p:sp>
        <p:nvSpPr>
          <p:cNvPr id="9" name="Text 6"/>
          <p:cNvSpPr/>
          <p:nvPr/>
        </p:nvSpPr>
        <p:spPr>
          <a:xfrm>
            <a:off x="822960" y="3429000"/>
            <a:ext cx="3063240" cy="228600"/>
          </a:xfrm>
          <a:prstGeom prst="rect">
            <a:avLst/>
          </a:prstGeom>
          <a:noFill/>
          <a:ln/>
        </p:spPr>
        <p:txBody>
          <a:bodyPr wrap="square" lIns="0" tIns="0" rIns="0" bIns="0" rtlCol="0" anchor="ctr"/>
          <a:lstStyle/>
          <a:p>
            <a:pPr indent="0" marL="0">
              <a:buNone/>
            </a:pPr>
            <a:r>
              <a:rPr lang="en-US" sz="900" b="1" spc="100" kern="0" dirty="0">
                <a:solidFill>
                  <a:srgbClr val="E94560"/>
                </a:solidFill>
                <a:latin typeface="Calibri" pitchFamily="34" charset="0"/>
                <a:ea typeface="Calibri" pitchFamily="34" charset="-122"/>
                <a:cs typeface="Calibri" pitchFamily="34" charset="-120"/>
              </a:rPr>
              <a:t>ROOT CAUSE</a:t>
            </a:r>
            <a:endParaRPr lang="en-US" sz="900" dirty="0"/>
          </a:p>
        </p:txBody>
      </p:sp>
      <p:sp>
        <p:nvSpPr>
          <p:cNvPr id="10" name="Text 7"/>
          <p:cNvSpPr/>
          <p:nvPr/>
        </p:nvSpPr>
        <p:spPr>
          <a:xfrm>
            <a:off x="822960" y="3657600"/>
            <a:ext cx="3063240" cy="868680"/>
          </a:xfrm>
          <a:prstGeom prst="rect">
            <a:avLst/>
          </a:prstGeom>
          <a:noFill/>
          <a:ln/>
        </p:spPr>
        <p:txBody>
          <a:bodyPr wrap="square" lIns="0" tIns="0" rIns="0" bIns="0" rtlCol="0" anchor="ctr"/>
          <a:lstStyle/>
          <a:p>
            <a:pPr indent="0" marL="0">
              <a:buNone/>
            </a:pPr>
            <a:r>
              <a:rPr lang="en-US" sz="1050" dirty="0">
                <a:solidFill>
                  <a:srgbClr val="C7CEDC"/>
                </a:solidFill>
                <a:latin typeface="Calibri" pitchFamily="34" charset="0"/>
                <a:ea typeface="Calibri" pitchFamily="34" charset="-122"/>
                <a:cs typeface="Calibri" pitchFamily="34" charset="-120"/>
              </a:rPr>
              <a:t>Terraform only applies new user_data to instances created from scratch — updating it alone doesn't restart existing servers.</a:t>
            </a:r>
            <a:endParaRPr lang="en-US" sz="1050" dirty="0"/>
          </a:p>
        </p:txBody>
      </p:sp>
      <p:sp>
        <p:nvSpPr>
          <p:cNvPr id="11" name="Text 8"/>
          <p:cNvSpPr/>
          <p:nvPr/>
        </p:nvSpPr>
        <p:spPr>
          <a:xfrm>
            <a:off x="822960" y="4572000"/>
            <a:ext cx="3063240" cy="228600"/>
          </a:xfrm>
          <a:prstGeom prst="rect">
            <a:avLst/>
          </a:prstGeom>
          <a:noFill/>
          <a:ln/>
        </p:spPr>
        <p:txBody>
          <a:bodyPr wrap="square" lIns="0" tIns="0" rIns="0" bIns="0" rtlCol="0" anchor="ctr"/>
          <a:lstStyle/>
          <a:p>
            <a:pPr indent="0" marL="0">
              <a:buNone/>
            </a:pPr>
            <a:r>
              <a:rPr lang="en-US" sz="900" b="1" spc="100" kern="0" dirty="0">
                <a:solidFill>
                  <a:srgbClr val="00FF88"/>
                </a:solidFill>
                <a:latin typeface="Calibri" pitchFamily="34" charset="0"/>
                <a:ea typeface="Calibri" pitchFamily="34" charset="-122"/>
                <a:cs typeface="Calibri" pitchFamily="34" charset="-120"/>
              </a:rPr>
              <a:t>FIX</a:t>
            </a:r>
            <a:endParaRPr lang="en-US" sz="900" dirty="0"/>
          </a:p>
        </p:txBody>
      </p:sp>
      <p:sp>
        <p:nvSpPr>
          <p:cNvPr id="12" name="Text 9"/>
          <p:cNvSpPr/>
          <p:nvPr/>
        </p:nvSpPr>
        <p:spPr>
          <a:xfrm>
            <a:off x="822960" y="4800600"/>
            <a:ext cx="3063240" cy="1188720"/>
          </a:xfrm>
          <a:prstGeom prst="rect">
            <a:avLst/>
          </a:prstGeom>
          <a:noFill/>
          <a:ln/>
        </p:spPr>
        <p:txBody>
          <a:bodyPr wrap="square" lIns="0" tIns="0" rIns="0" bIns="0" rtlCol="0" anchor="ctr"/>
          <a:lstStyle/>
          <a:p>
            <a:pPr indent="0" marL="0">
              <a:buNone/>
            </a:pPr>
            <a:r>
              <a:rPr lang="en-US" sz="1050" dirty="0">
                <a:solidFill>
                  <a:srgbClr val="C7CEDC"/>
                </a:solidFill>
                <a:latin typeface="Calibri" pitchFamily="34" charset="0"/>
                <a:ea typeface="Calibri" pitchFamily="34" charset="-122"/>
                <a:cs typeface="Calibri" pitchFamily="34" charset="-120"/>
              </a:rPr>
              <a:t>Used terraform apply -replace to force instance recreation with the new bootstrap script.</a:t>
            </a:r>
            <a:endParaRPr lang="en-US" sz="1050" dirty="0"/>
          </a:p>
        </p:txBody>
      </p:sp>
      <p:sp>
        <p:nvSpPr>
          <p:cNvPr id="13" name="Shape 10"/>
          <p:cNvSpPr/>
          <p:nvPr/>
        </p:nvSpPr>
        <p:spPr>
          <a:xfrm>
            <a:off x="4343400" y="1600200"/>
            <a:ext cx="3611880" cy="4480560"/>
          </a:xfrm>
          <a:prstGeom prst="roundRect">
            <a:avLst>
              <a:gd name="adj" fmla="val 3038"/>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4" name="Shape 11"/>
          <p:cNvSpPr/>
          <p:nvPr/>
        </p:nvSpPr>
        <p:spPr>
          <a:xfrm>
            <a:off x="4572000" y="1828800"/>
            <a:ext cx="548640" cy="548640"/>
          </a:xfrm>
          <a:prstGeom prst="ellipse">
            <a:avLst/>
          </a:prstGeom>
          <a:solidFill>
            <a:srgbClr val="13284A"/>
          </a:solidFill>
          <a:ln w="19050">
            <a:solidFill>
              <a:srgbClr val="E94560"/>
            </a:solidFill>
            <a:prstDash val="solid"/>
          </a:ln>
        </p:spPr>
      </p:sp>
      <p:pic>
        <p:nvPicPr>
          <p:cNvPr id="15" name="Image 1" descr="preencoded.png">    </p:cNvPr>
          <p:cNvPicPr>
            <a:picLocks noChangeAspect="1"/>
          </p:cNvPicPr>
          <p:nvPr/>
        </p:nvPicPr>
        <p:blipFill>
          <a:blip r:embed="rId2"/>
          <a:stretch>
            <a:fillRect/>
          </a:stretch>
        </p:blipFill>
        <p:spPr>
          <a:xfrm>
            <a:off x="4703674" y="1960474"/>
            <a:ext cx="285293" cy="285293"/>
          </a:xfrm>
          <a:prstGeom prst="rect">
            <a:avLst/>
          </a:prstGeom>
        </p:spPr>
      </p:pic>
      <p:sp>
        <p:nvSpPr>
          <p:cNvPr id="16" name="Text 12"/>
          <p:cNvSpPr/>
          <p:nvPr/>
        </p:nvSpPr>
        <p:spPr>
          <a:xfrm>
            <a:off x="5257800" y="1828800"/>
            <a:ext cx="2468880" cy="5486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Forced Recreation for App Updates</a:t>
            </a:r>
            <a:endParaRPr lang="en-US" sz="1350" dirty="0"/>
          </a:p>
        </p:txBody>
      </p:sp>
      <p:sp>
        <p:nvSpPr>
          <p:cNvPr id="17" name="Text 13"/>
          <p:cNvSpPr/>
          <p:nvPr/>
        </p:nvSpPr>
        <p:spPr>
          <a:xfrm>
            <a:off x="4617720" y="2560320"/>
            <a:ext cx="3063240" cy="822960"/>
          </a:xfrm>
          <a:prstGeom prst="rect">
            <a:avLst/>
          </a:prstGeom>
          <a:noFill/>
          <a:ln/>
        </p:spPr>
        <p:txBody>
          <a:bodyPr wrap="square" lIns="0" tIns="0" rIns="0" bIns="0" rtlCol="0" anchor="ctr"/>
          <a:lstStyle/>
          <a:p>
            <a:pPr indent="0" marL="0">
              <a:buNone/>
            </a:pPr>
            <a:r>
              <a:rPr lang="en-US" sz="1100" dirty="0">
                <a:solidFill>
                  <a:srgbClr val="C7CEDC"/>
                </a:solidFill>
                <a:latin typeface="Calibri" pitchFamily="34" charset="0"/>
                <a:ea typeface="Calibri" pitchFamily="34" charset="-122"/>
                <a:cs typeface="Calibri" pitchFamily="34" charset="-120"/>
              </a:rPr>
              <a:t>Editing the embedded Python server required full instance replacement every time.</a:t>
            </a:r>
            <a:endParaRPr lang="en-US" sz="1100" dirty="0"/>
          </a:p>
        </p:txBody>
      </p:sp>
      <p:sp>
        <p:nvSpPr>
          <p:cNvPr id="18" name="Text 14"/>
          <p:cNvSpPr/>
          <p:nvPr/>
        </p:nvSpPr>
        <p:spPr>
          <a:xfrm>
            <a:off x="4617720" y="3429000"/>
            <a:ext cx="3063240" cy="228600"/>
          </a:xfrm>
          <a:prstGeom prst="rect">
            <a:avLst/>
          </a:prstGeom>
          <a:noFill/>
          <a:ln/>
        </p:spPr>
        <p:txBody>
          <a:bodyPr wrap="square" lIns="0" tIns="0" rIns="0" bIns="0" rtlCol="0" anchor="ctr"/>
          <a:lstStyle/>
          <a:p>
            <a:pPr indent="0" marL="0">
              <a:buNone/>
            </a:pPr>
            <a:r>
              <a:rPr lang="en-US" sz="900" b="1" spc="100" kern="0" dirty="0">
                <a:solidFill>
                  <a:srgbClr val="E94560"/>
                </a:solidFill>
                <a:latin typeface="Calibri" pitchFamily="34" charset="0"/>
                <a:ea typeface="Calibri" pitchFamily="34" charset="-122"/>
                <a:cs typeface="Calibri" pitchFamily="34" charset="-120"/>
              </a:rPr>
              <a:t>ROOT CAUSE</a:t>
            </a:r>
            <a:endParaRPr lang="en-US" sz="900" dirty="0"/>
          </a:p>
        </p:txBody>
      </p:sp>
      <p:sp>
        <p:nvSpPr>
          <p:cNvPr id="19" name="Text 15"/>
          <p:cNvSpPr/>
          <p:nvPr/>
        </p:nvSpPr>
        <p:spPr>
          <a:xfrm>
            <a:off x="4617720" y="3657600"/>
            <a:ext cx="3063240" cy="868680"/>
          </a:xfrm>
          <a:prstGeom prst="rect">
            <a:avLst/>
          </a:prstGeom>
          <a:noFill/>
          <a:ln/>
        </p:spPr>
        <p:txBody>
          <a:bodyPr wrap="square" lIns="0" tIns="0" rIns="0" bIns="0" rtlCol="0" anchor="ctr"/>
          <a:lstStyle/>
          <a:p>
            <a:pPr indent="0" marL="0">
              <a:buNone/>
            </a:pPr>
            <a:r>
              <a:rPr lang="en-US" sz="1050" dirty="0">
                <a:solidFill>
                  <a:srgbClr val="C7CEDC"/>
                </a:solidFill>
                <a:latin typeface="Calibri" pitchFamily="34" charset="0"/>
                <a:ea typeface="Calibri" pitchFamily="34" charset="-122"/>
                <a:cs typeface="Calibri" pitchFamily="34" charset="-120"/>
              </a:rPr>
              <a:t>This taught me the real tradeoff between "bake it into the AMI / user_data" vs. a proper deployment pipeline.</a:t>
            </a:r>
            <a:endParaRPr lang="en-US" sz="1050" dirty="0"/>
          </a:p>
        </p:txBody>
      </p:sp>
      <p:sp>
        <p:nvSpPr>
          <p:cNvPr id="20" name="Text 16"/>
          <p:cNvSpPr/>
          <p:nvPr/>
        </p:nvSpPr>
        <p:spPr>
          <a:xfrm>
            <a:off x="4617720" y="4572000"/>
            <a:ext cx="3063240" cy="228600"/>
          </a:xfrm>
          <a:prstGeom prst="rect">
            <a:avLst/>
          </a:prstGeom>
          <a:noFill/>
          <a:ln/>
        </p:spPr>
        <p:txBody>
          <a:bodyPr wrap="square" lIns="0" tIns="0" rIns="0" bIns="0" rtlCol="0" anchor="ctr"/>
          <a:lstStyle/>
          <a:p>
            <a:pPr indent="0" marL="0">
              <a:buNone/>
            </a:pPr>
            <a:r>
              <a:rPr lang="en-US" sz="900" b="1" spc="100" kern="0" dirty="0">
                <a:solidFill>
                  <a:srgbClr val="00FF88"/>
                </a:solidFill>
                <a:latin typeface="Calibri" pitchFamily="34" charset="0"/>
                <a:ea typeface="Calibri" pitchFamily="34" charset="-122"/>
                <a:cs typeface="Calibri" pitchFamily="34" charset="-120"/>
              </a:rPr>
              <a:t>FIX</a:t>
            </a:r>
            <a:endParaRPr lang="en-US" sz="900" dirty="0"/>
          </a:p>
        </p:txBody>
      </p:sp>
      <p:sp>
        <p:nvSpPr>
          <p:cNvPr id="21" name="Text 17"/>
          <p:cNvSpPr/>
          <p:nvPr/>
        </p:nvSpPr>
        <p:spPr>
          <a:xfrm>
            <a:off x="4617720" y="4800600"/>
            <a:ext cx="3063240" cy="1188720"/>
          </a:xfrm>
          <a:prstGeom prst="rect">
            <a:avLst/>
          </a:prstGeom>
          <a:noFill/>
          <a:ln/>
        </p:spPr>
        <p:txBody>
          <a:bodyPr wrap="square" lIns="0" tIns="0" rIns="0" bIns="0" rtlCol="0" anchor="ctr"/>
          <a:lstStyle/>
          <a:p>
            <a:pPr indent="0" marL="0">
              <a:buNone/>
            </a:pPr>
            <a:r>
              <a:rPr lang="en-US" sz="1050" dirty="0">
                <a:solidFill>
                  <a:srgbClr val="C7CEDC"/>
                </a:solidFill>
                <a:latin typeface="Calibri" pitchFamily="34" charset="0"/>
                <a:ea typeface="Calibri" pitchFamily="34" charset="-122"/>
                <a:cs typeface="Calibri" pitchFamily="34" charset="-120"/>
              </a:rPr>
              <a:t>Documented as a known limitation and a clear next step: move to a real app server or container-based deploy.</a:t>
            </a:r>
            <a:endParaRPr lang="en-US" sz="1050" dirty="0"/>
          </a:p>
        </p:txBody>
      </p:sp>
      <p:sp>
        <p:nvSpPr>
          <p:cNvPr id="22" name="Shape 18"/>
          <p:cNvSpPr/>
          <p:nvPr/>
        </p:nvSpPr>
        <p:spPr>
          <a:xfrm>
            <a:off x="8138160" y="1600200"/>
            <a:ext cx="3611880" cy="4480560"/>
          </a:xfrm>
          <a:prstGeom prst="roundRect">
            <a:avLst>
              <a:gd name="adj" fmla="val 3038"/>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23" name="Shape 19"/>
          <p:cNvSpPr/>
          <p:nvPr/>
        </p:nvSpPr>
        <p:spPr>
          <a:xfrm>
            <a:off x="8366760" y="1828800"/>
            <a:ext cx="548640" cy="548640"/>
          </a:xfrm>
          <a:prstGeom prst="ellipse">
            <a:avLst/>
          </a:prstGeom>
          <a:solidFill>
            <a:srgbClr val="13284A"/>
          </a:solidFill>
          <a:ln w="19050">
            <a:solidFill>
              <a:srgbClr val="E94560"/>
            </a:solidFill>
            <a:prstDash val="solid"/>
          </a:ln>
        </p:spPr>
      </p:sp>
      <p:pic>
        <p:nvPicPr>
          <p:cNvPr id="24" name="Image 2" descr="preencoded.png">    </p:cNvPr>
          <p:cNvPicPr>
            <a:picLocks noChangeAspect="1"/>
          </p:cNvPicPr>
          <p:nvPr/>
        </p:nvPicPr>
        <p:blipFill>
          <a:blip r:embed="rId3"/>
          <a:stretch>
            <a:fillRect/>
          </a:stretch>
        </p:blipFill>
        <p:spPr>
          <a:xfrm>
            <a:off x="8498434" y="1960474"/>
            <a:ext cx="285293" cy="285293"/>
          </a:xfrm>
          <a:prstGeom prst="rect">
            <a:avLst/>
          </a:prstGeom>
        </p:spPr>
      </p:pic>
      <p:sp>
        <p:nvSpPr>
          <p:cNvPr id="25" name="Text 20"/>
          <p:cNvSpPr/>
          <p:nvPr/>
        </p:nvSpPr>
        <p:spPr>
          <a:xfrm>
            <a:off x="9052560" y="1828800"/>
            <a:ext cx="2468880" cy="5486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Auto Scaling Output Cleanup</a:t>
            </a:r>
            <a:endParaRPr lang="en-US" sz="1350" dirty="0"/>
          </a:p>
        </p:txBody>
      </p:sp>
      <p:sp>
        <p:nvSpPr>
          <p:cNvPr id="26" name="Text 21"/>
          <p:cNvSpPr/>
          <p:nvPr/>
        </p:nvSpPr>
        <p:spPr>
          <a:xfrm>
            <a:off x="8412480" y="2560320"/>
            <a:ext cx="3063240" cy="822960"/>
          </a:xfrm>
          <a:prstGeom prst="rect">
            <a:avLst/>
          </a:prstGeom>
          <a:noFill/>
          <a:ln/>
        </p:spPr>
        <p:txBody>
          <a:bodyPr wrap="square" lIns="0" tIns="0" rIns="0" bIns="0" rtlCol="0" anchor="ctr"/>
          <a:lstStyle/>
          <a:p>
            <a:pPr indent="0" marL="0">
              <a:buNone/>
            </a:pPr>
            <a:r>
              <a:rPr lang="en-US" sz="1100" dirty="0">
                <a:solidFill>
                  <a:srgbClr val="C7CEDC"/>
                </a:solidFill>
                <a:latin typeface="Calibri" pitchFamily="34" charset="0"/>
                <a:ea typeface="Calibri" pitchFamily="34" charset="-122"/>
                <a:cs typeface="Calibri" pitchFamily="34" charset="-120"/>
              </a:rPr>
              <a:t>Migrating from fixed EC2 instances to an Auto Scaling Group broke several module outputs and alarms tied to instance IDs.</a:t>
            </a:r>
            <a:endParaRPr lang="en-US" sz="1100" dirty="0"/>
          </a:p>
        </p:txBody>
      </p:sp>
      <p:sp>
        <p:nvSpPr>
          <p:cNvPr id="27" name="Text 22"/>
          <p:cNvSpPr/>
          <p:nvPr/>
        </p:nvSpPr>
        <p:spPr>
          <a:xfrm>
            <a:off x="8412480" y="3429000"/>
            <a:ext cx="3063240" cy="228600"/>
          </a:xfrm>
          <a:prstGeom prst="rect">
            <a:avLst/>
          </a:prstGeom>
          <a:noFill/>
          <a:ln/>
        </p:spPr>
        <p:txBody>
          <a:bodyPr wrap="square" lIns="0" tIns="0" rIns="0" bIns="0" rtlCol="0" anchor="ctr"/>
          <a:lstStyle/>
          <a:p>
            <a:pPr indent="0" marL="0">
              <a:buNone/>
            </a:pPr>
            <a:r>
              <a:rPr lang="en-US" sz="900" b="1" spc="100" kern="0" dirty="0">
                <a:solidFill>
                  <a:srgbClr val="E94560"/>
                </a:solidFill>
                <a:latin typeface="Calibri" pitchFamily="34" charset="0"/>
                <a:ea typeface="Calibri" pitchFamily="34" charset="-122"/>
                <a:cs typeface="Calibri" pitchFamily="34" charset="-120"/>
              </a:rPr>
              <a:t>ROOT CAUSE</a:t>
            </a:r>
            <a:endParaRPr lang="en-US" sz="900" dirty="0"/>
          </a:p>
        </p:txBody>
      </p:sp>
      <p:sp>
        <p:nvSpPr>
          <p:cNvPr id="28" name="Text 23"/>
          <p:cNvSpPr/>
          <p:nvPr/>
        </p:nvSpPr>
        <p:spPr>
          <a:xfrm>
            <a:off x="8412480" y="3657600"/>
            <a:ext cx="3063240" cy="868680"/>
          </a:xfrm>
          <a:prstGeom prst="rect">
            <a:avLst/>
          </a:prstGeom>
          <a:noFill/>
          <a:ln/>
        </p:spPr>
        <p:txBody>
          <a:bodyPr wrap="square" lIns="0" tIns="0" rIns="0" bIns="0" rtlCol="0" anchor="ctr"/>
          <a:lstStyle/>
          <a:p>
            <a:pPr indent="0" marL="0">
              <a:buNone/>
            </a:pPr>
            <a:r>
              <a:rPr lang="en-US" sz="1050" dirty="0">
                <a:solidFill>
                  <a:srgbClr val="C7CEDC"/>
                </a:solidFill>
                <a:latin typeface="Calibri" pitchFamily="34" charset="0"/>
                <a:ea typeface="Calibri" pitchFamily="34" charset="-122"/>
                <a:cs typeface="Calibri" pitchFamily="34" charset="-120"/>
              </a:rPr>
              <a:t>Required refactoring the monitoring module to use ASG-level and ALB-level metrics instead of per-instance ones.</a:t>
            </a:r>
            <a:endParaRPr lang="en-US" sz="1050" dirty="0"/>
          </a:p>
        </p:txBody>
      </p:sp>
      <p:sp>
        <p:nvSpPr>
          <p:cNvPr id="29" name="Text 24"/>
          <p:cNvSpPr/>
          <p:nvPr/>
        </p:nvSpPr>
        <p:spPr>
          <a:xfrm>
            <a:off x="8412480" y="4572000"/>
            <a:ext cx="3063240" cy="228600"/>
          </a:xfrm>
          <a:prstGeom prst="rect">
            <a:avLst/>
          </a:prstGeom>
          <a:noFill/>
          <a:ln/>
        </p:spPr>
        <p:txBody>
          <a:bodyPr wrap="square" lIns="0" tIns="0" rIns="0" bIns="0" rtlCol="0" anchor="ctr"/>
          <a:lstStyle/>
          <a:p>
            <a:pPr indent="0" marL="0">
              <a:buNone/>
            </a:pPr>
            <a:r>
              <a:rPr lang="en-US" sz="900" b="1" spc="100" kern="0" dirty="0">
                <a:solidFill>
                  <a:srgbClr val="00FF88"/>
                </a:solidFill>
                <a:latin typeface="Calibri" pitchFamily="34" charset="0"/>
                <a:ea typeface="Calibri" pitchFamily="34" charset="-122"/>
                <a:cs typeface="Calibri" pitchFamily="34" charset="-120"/>
              </a:rPr>
              <a:t>FIX</a:t>
            </a:r>
            <a:endParaRPr lang="en-US" sz="900" dirty="0"/>
          </a:p>
        </p:txBody>
      </p:sp>
      <p:sp>
        <p:nvSpPr>
          <p:cNvPr id="30" name="Text 25"/>
          <p:cNvSpPr/>
          <p:nvPr/>
        </p:nvSpPr>
        <p:spPr>
          <a:xfrm>
            <a:off x="8412480" y="4800600"/>
            <a:ext cx="3063240" cy="1188720"/>
          </a:xfrm>
          <a:prstGeom prst="rect">
            <a:avLst/>
          </a:prstGeom>
          <a:noFill/>
          <a:ln/>
        </p:spPr>
        <p:txBody>
          <a:bodyPr wrap="square" lIns="0" tIns="0" rIns="0" bIns="0" rtlCol="0" anchor="ctr"/>
          <a:lstStyle/>
          <a:p>
            <a:pPr indent="0" marL="0">
              <a:buNone/>
            </a:pPr>
            <a:r>
              <a:rPr lang="en-US" sz="1050" dirty="0">
                <a:solidFill>
                  <a:srgbClr val="C7CEDC"/>
                </a:solidFill>
                <a:latin typeface="Calibri" pitchFamily="34" charset="0"/>
                <a:ea typeface="Calibri" pitchFamily="34" charset="-122"/>
                <a:cs typeface="Calibri" pitchFamily="34" charset="-120"/>
              </a:rPr>
              <a:t>Resulted in a cleaner, more production-realistic monitoring setup.</a:t>
            </a:r>
            <a:endParaRPr lang="en-US" sz="1050" dirty="0"/>
          </a:p>
        </p:txBody>
      </p:sp>
      <p:sp>
        <p:nvSpPr>
          <p:cNvPr id="31" name="Text 2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10</a:t>
            </a:r>
            <a:endParaRPr lang="en-US" sz="1000" dirty="0"/>
          </a:p>
        </p:txBody>
      </p:sp>
      <p:sp>
        <p:nvSpPr>
          <p:cNvPr id="32" name="Text 27"/>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3A6"/>
                </a:solidFill>
                <a:latin typeface="Calibri" pitchFamily="34" charset="0"/>
                <a:ea typeface="Calibri" pitchFamily="34" charset="-122"/>
                <a:cs typeface="Calibri" pitchFamily="34" charset="-120"/>
              </a:rPr>
              <a:t>VaultPay Platform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B33"/>
        </a:solidFill>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RESULTS &amp; IMPACT</a:t>
            </a:r>
            <a:endParaRPr lang="en-US" sz="1200" dirty="0"/>
          </a:p>
        </p:txBody>
      </p:sp>
      <p:sp>
        <p:nvSpPr>
          <p:cNvPr id="3" name="Text 1"/>
          <p:cNvSpPr/>
          <p:nvPr/>
        </p:nvSpPr>
        <p:spPr>
          <a:xfrm>
            <a:off x="548640" y="62179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Results, Cost Posture &amp; Business Value</a:t>
            </a:r>
            <a:endParaRPr lang="en-US" sz="3000" dirty="0"/>
          </a:p>
        </p:txBody>
      </p:sp>
      <p:sp>
        <p:nvSpPr>
          <p:cNvPr id="4" name="Shape 2"/>
          <p:cNvSpPr/>
          <p:nvPr/>
        </p:nvSpPr>
        <p:spPr>
          <a:xfrm>
            <a:off x="548640" y="1600200"/>
            <a:ext cx="2606040" cy="1417320"/>
          </a:xfrm>
          <a:prstGeom prst="roundRect">
            <a:avLst>
              <a:gd name="adj" fmla="val 7742"/>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548640" y="1691640"/>
            <a:ext cx="2606040" cy="731520"/>
          </a:xfrm>
          <a:prstGeom prst="rect">
            <a:avLst/>
          </a:prstGeom>
          <a:noFill/>
          <a:ln/>
        </p:spPr>
        <p:txBody>
          <a:bodyPr wrap="square" lIns="0" tIns="0" rIns="0" bIns="0" rtlCol="0" anchor="ctr"/>
          <a:lstStyle/>
          <a:p>
            <a:pPr algn="ctr" indent="0" marL="0">
              <a:buNone/>
            </a:pPr>
            <a:r>
              <a:rPr lang="en-US" sz="3600" b="1" dirty="0">
                <a:solidFill>
                  <a:srgbClr val="00FF88"/>
                </a:solidFill>
                <a:latin typeface="Cambria" pitchFamily="34" charset="0"/>
                <a:ea typeface="Cambria" pitchFamily="34" charset="-122"/>
                <a:cs typeface="Cambria" pitchFamily="34" charset="-120"/>
              </a:rPr>
              <a:t>3-6</a:t>
            </a:r>
            <a:endParaRPr lang="en-US" sz="3600" dirty="0"/>
          </a:p>
        </p:txBody>
      </p:sp>
      <p:sp>
        <p:nvSpPr>
          <p:cNvPr id="6" name="Text 4"/>
          <p:cNvSpPr/>
          <p:nvPr/>
        </p:nvSpPr>
        <p:spPr>
          <a:xfrm>
            <a:off x="685800" y="2423160"/>
            <a:ext cx="2331720" cy="502920"/>
          </a:xfrm>
          <a:prstGeom prst="rect">
            <a:avLst/>
          </a:prstGeom>
          <a:noFill/>
          <a:ln/>
        </p:spPr>
        <p:txBody>
          <a:bodyPr wrap="square" lIns="0" tIns="0" rIns="0" bIns="0" rtlCol="0" anchor="ctr"/>
          <a:lstStyle/>
          <a:p>
            <a:pPr algn="ctr" indent="0" marL="0">
              <a:buNone/>
            </a:pPr>
            <a:r>
              <a:rPr lang="en-US" sz="1150" dirty="0">
                <a:solidFill>
                  <a:srgbClr val="8A93A6"/>
                </a:solidFill>
                <a:latin typeface="Calibri" pitchFamily="34" charset="0"/>
                <a:ea typeface="Calibri" pitchFamily="34" charset="-122"/>
                <a:cs typeface="Calibri" pitchFamily="34" charset="-120"/>
              </a:rPr>
              <a:t>EC2 instances, auto-scaled</a:t>
            </a:r>
            <a:endParaRPr lang="en-US" sz="1150" dirty="0"/>
          </a:p>
        </p:txBody>
      </p:sp>
      <p:sp>
        <p:nvSpPr>
          <p:cNvPr id="7" name="Shape 5"/>
          <p:cNvSpPr/>
          <p:nvPr/>
        </p:nvSpPr>
        <p:spPr>
          <a:xfrm>
            <a:off x="3319272" y="1600200"/>
            <a:ext cx="2606040" cy="1417320"/>
          </a:xfrm>
          <a:prstGeom prst="roundRect">
            <a:avLst>
              <a:gd name="adj" fmla="val 7742"/>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3319272" y="1691640"/>
            <a:ext cx="2606040" cy="731520"/>
          </a:xfrm>
          <a:prstGeom prst="rect">
            <a:avLst/>
          </a:prstGeom>
          <a:noFill/>
          <a:ln/>
        </p:spPr>
        <p:txBody>
          <a:bodyPr wrap="square" lIns="0" tIns="0" rIns="0" bIns="0" rtlCol="0" anchor="ctr"/>
          <a:lstStyle/>
          <a:p>
            <a:pPr algn="ctr" indent="0" marL="0">
              <a:buNone/>
            </a:pPr>
            <a:r>
              <a:rPr lang="en-US" sz="3600" b="1" dirty="0">
                <a:solidFill>
                  <a:srgbClr val="00FF88"/>
                </a:solidFill>
                <a:latin typeface="Cambria" pitchFamily="34" charset="0"/>
                <a:ea typeface="Cambria" pitchFamily="34" charset="-122"/>
                <a:cs typeface="Cambria" pitchFamily="34" charset="-120"/>
              </a:rPr>
              <a:t>2</a:t>
            </a:r>
            <a:endParaRPr lang="en-US" sz="3600" dirty="0"/>
          </a:p>
        </p:txBody>
      </p:sp>
      <p:sp>
        <p:nvSpPr>
          <p:cNvPr id="9" name="Text 7"/>
          <p:cNvSpPr/>
          <p:nvPr/>
        </p:nvSpPr>
        <p:spPr>
          <a:xfrm>
            <a:off x="3456432" y="2423160"/>
            <a:ext cx="2331720" cy="502920"/>
          </a:xfrm>
          <a:prstGeom prst="rect">
            <a:avLst/>
          </a:prstGeom>
          <a:noFill/>
          <a:ln/>
        </p:spPr>
        <p:txBody>
          <a:bodyPr wrap="square" lIns="0" tIns="0" rIns="0" bIns="0" rtlCol="0" anchor="ctr"/>
          <a:lstStyle/>
          <a:p>
            <a:pPr algn="ctr" indent="0" marL="0">
              <a:buNone/>
            </a:pPr>
            <a:r>
              <a:rPr lang="en-US" sz="1150" dirty="0">
                <a:solidFill>
                  <a:srgbClr val="8A93A6"/>
                </a:solidFill>
                <a:latin typeface="Calibri" pitchFamily="34" charset="0"/>
                <a:ea typeface="Calibri" pitchFamily="34" charset="-122"/>
                <a:cs typeface="Calibri" pitchFamily="34" charset="-120"/>
              </a:rPr>
              <a:t>Availability Zones</a:t>
            </a:r>
            <a:endParaRPr lang="en-US" sz="1150" dirty="0"/>
          </a:p>
        </p:txBody>
      </p:sp>
      <p:sp>
        <p:nvSpPr>
          <p:cNvPr id="10" name="Shape 8"/>
          <p:cNvSpPr/>
          <p:nvPr/>
        </p:nvSpPr>
        <p:spPr>
          <a:xfrm>
            <a:off x="6089904" y="1600200"/>
            <a:ext cx="2606040" cy="1417320"/>
          </a:xfrm>
          <a:prstGeom prst="roundRect">
            <a:avLst>
              <a:gd name="adj" fmla="val 7742"/>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6089904" y="1691640"/>
            <a:ext cx="2606040" cy="731520"/>
          </a:xfrm>
          <a:prstGeom prst="rect">
            <a:avLst/>
          </a:prstGeom>
          <a:noFill/>
          <a:ln/>
        </p:spPr>
        <p:txBody>
          <a:bodyPr wrap="square" lIns="0" tIns="0" rIns="0" bIns="0" rtlCol="0" anchor="ctr"/>
          <a:lstStyle/>
          <a:p>
            <a:pPr algn="ctr" indent="0" marL="0">
              <a:buNone/>
            </a:pPr>
            <a:r>
              <a:rPr lang="en-US" sz="3600" b="1" dirty="0">
                <a:solidFill>
                  <a:srgbClr val="00FF88"/>
                </a:solidFill>
                <a:latin typeface="Cambria" pitchFamily="34" charset="0"/>
                <a:ea typeface="Cambria" pitchFamily="34" charset="-122"/>
                <a:cs typeface="Cambria" pitchFamily="34" charset="-120"/>
              </a:rPr>
              <a:t>5</a:t>
            </a:r>
            <a:endParaRPr lang="en-US" sz="3600" dirty="0"/>
          </a:p>
        </p:txBody>
      </p:sp>
      <p:sp>
        <p:nvSpPr>
          <p:cNvPr id="12" name="Text 10"/>
          <p:cNvSpPr/>
          <p:nvPr/>
        </p:nvSpPr>
        <p:spPr>
          <a:xfrm>
            <a:off x="6227064" y="2423160"/>
            <a:ext cx="2331720" cy="502920"/>
          </a:xfrm>
          <a:prstGeom prst="rect">
            <a:avLst/>
          </a:prstGeom>
          <a:noFill/>
          <a:ln/>
        </p:spPr>
        <p:txBody>
          <a:bodyPr wrap="square" lIns="0" tIns="0" rIns="0" bIns="0" rtlCol="0" anchor="ctr"/>
          <a:lstStyle/>
          <a:p>
            <a:pPr algn="ctr" indent="0" marL="0">
              <a:buNone/>
            </a:pPr>
            <a:r>
              <a:rPr lang="en-US" sz="1150" dirty="0">
                <a:solidFill>
                  <a:srgbClr val="8A93A6"/>
                </a:solidFill>
                <a:latin typeface="Calibri" pitchFamily="34" charset="0"/>
                <a:ea typeface="Calibri" pitchFamily="34" charset="-122"/>
                <a:cs typeface="Calibri" pitchFamily="34" charset="-120"/>
              </a:rPr>
              <a:t>CloudWatch alarms live</a:t>
            </a:r>
            <a:endParaRPr lang="en-US" sz="1150" dirty="0"/>
          </a:p>
        </p:txBody>
      </p:sp>
      <p:sp>
        <p:nvSpPr>
          <p:cNvPr id="13" name="Shape 11"/>
          <p:cNvSpPr/>
          <p:nvPr/>
        </p:nvSpPr>
        <p:spPr>
          <a:xfrm>
            <a:off x="8860536" y="1600200"/>
            <a:ext cx="2606040" cy="1417320"/>
          </a:xfrm>
          <a:prstGeom prst="roundRect">
            <a:avLst>
              <a:gd name="adj" fmla="val 7742"/>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4" name="Text 12"/>
          <p:cNvSpPr/>
          <p:nvPr/>
        </p:nvSpPr>
        <p:spPr>
          <a:xfrm>
            <a:off x="8860536" y="1691640"/>
            <a:ext cx="2606040" cy="731520"/>
          </a:xfrm>
          <a:prstGeom prst="rect">
            <a:avLst/>
          </a:prstGeom>
          <a:noFill/>
          <a:ln/>
        </p:spPr>
        <p:txBody>
          <a:bodyPr wrap="square" lIns="0" tIns="0" rIns="0" bIns="0" rtlCol="0" anchor="ctr"/>
          <a:lstStyle/>
          <a:p>
            <a:pPr algn="ctr" indent="0" marL="0">
              <a:buNone/>
            </a:pPr>
            <a:r>
              <a:rPr lang="en-US" sz="3600" b="1" dirty="0">
                <a:solidFill>
                  <a:srgbClr val="00FF88"/>
                </a:solidFill>
                <a:latin typeface="Cambria" pitchFamily="34" charset="0"/>
                <a:ea typeface="Cambria" pitchFamily="34" charset="-122"/>
                <a:cs typeface="Cambria" pitchFamily="34" charset="-120"/>
              </a:rPr>
              <a:t>100%</a:t>
            </a:r>
            <a:endParaRPr lang="en-US" sz="3600" dirty="0"/>
          </a:p>
        </p:txBody>
      </p:sp>
      <p:sp>
        <p:nvSpPr>
          <p:cNvPr id="15" name="Text 13"/>
          <p:cNvSpPr/>
          <p:nvPr/>
        </p:nvSpPr>
        <p:spPr>
          <a:xfrm>
            <a:off x="8997696" y="2423160"/>
            <a:ext cx="2331720" cy="502920"/>
          </a:xfrm>
          <a:prstGeom prst="rect">
            <a:avLst/>
          </a:prstGeom>
          <a:noFill/>
          <a:ln/>
        </p:spPr>
        <p:txBody>
          <a:bodyPr wrap="square" lIns="0" tIns="0" rIns="0" bIns="0" rtlCol="0" anchor="ctr"/>
          <a:lstStyle/>
          <a:p>
            <a:pPr algn="ctr" indent="0" marL="0">
              <a:buNone/>
            </a:pPr>
            <a:r>
              <a:rPr lang="en-US" sz="1150" dirty="0">
                <a:solidFill>
                  <a:srgbClr val="8A93A6"/>
                </a:solidFill>
                <a:latin typeface="Calibri" pitchFamily="34" charset="0"/>
                <a:ea typeface="Calibri" pitchFamily="34" charset="-122"/>
                <a:cs typeface="Calibri" pitchFamily="34" charset="-120"/>
              </a:rPr>
              <a:t>Secrets-managed credentials</a:t>
            </a:r>
            <a:endParaRPr lang="en-US" sz="1150" dirty="0"/>
          </a:p>
        </p:txBody>
      </p:sp>
      <p:sp>
        <p:nvSpPr>
          <p:cNvPr id="16" name="Shape 14"/>
          <p:cNvSpPr/>
          <p:nvPr/>
        </p:nvSpPr>
        <p:spPr>
          <a:xfrm>
            <a:off x="548640" y="3246120"/>
            <a:ext cx="5349240" cy="2788920"/>
          </a:xfrm>
          <a:prstGeom prst="roundRect">
            <a:avLst>
              <a:gd name="adj" fmla="val 3934"/>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868680" y="3474720"/>
            <a:ext cx="4754880" cy="365760"/>
          </a:xfrm>
          <a:prstGeom prst="rect">
            <a:avLst/>
          </a:prstGeom>
          <a:noFill/>
          <a:ln/>
        </p:spPr>
        <p:txBody>
          <a:bodyPr wrap="square" lIns="0" tIns="0" rIns="0" bIns="0" rtlCol="0" anchor="ctr"/>
          <a:lstStyle/>
          <a:p>
            <a:pPr indent="0" marL="0">
              <a:buNone/>
            </a:pPr>
            <a:r>
              <a:rPr lang="en-US" sz="1600" b="1" dirty="0">
                <a:solidFill>
                  <a:srgbClr val="00B4D8"/>
                </a:solidFill>
                <a:latin typeface="Cambria" pitchFamily="34" charset="0"/>
                <a:ea typeface="Cambria" pitchFamily="34" charset="-122"/>
                <a:cs typeface="Cambria" pitchFamily="34" charset="-120"/>
              </a:rPr>
              <a:t>Cost Optimization Strategy</a:t>
            </a:r>
            <a:endParaRPr lang="en-US" sz="1600" dirty="0"/>
          </a:p>
        </p:txBody>
      </p:sp>
      <p:sp>
        <p:nvSpPr>
          <p:cNvPr id="18" name="Shape 16"/>
          <p:cNvSpPr/>
          <p:nvPr/>
        </p:nvSpPr>
        <p:spPr>
          <a:xfrm>
            <a:off x="868680" y="3931920"/>
            <a:ext cx="384048" cy="384048"/>
          </a:xfrm>
          <a:prstGeom prst="ellipse">
            <a:avLst/>
          </a:prstGeom>
          <a:solidFill>
            <a:srgbClr val="13284A"/>
          </a:solidFill>
          <a:ln w="19050">
            <a:solidFill>
              <a:srgbClr val="00FF88"/>
            </a:solidFill>
            <a:prstDash val="solid"/>
          </a:ln>
        </p:spPr>
      </p:sp>
      <p:pic>
        <p:nvPicPr>
          <p:cNvPr id="19" name="Image 0" descr="preencoded.png">    </p:cNvPr>
          <p:cNvPicPr>
            <a:picLocks noChangeAspect="1"/>
          </p:cNvPicPr>
          <p:nvPr/>
        </p:nvPicPr>
        <p:blipFill>
          <a:blip r:embed="rId1"/>
          <a:stretch>
            <a:fillRect/>
          </a:stretch>
        </p:blipFill>
        <p:spPr>
          <a:xfrm>
            <a:off x="960852" y="4024092"/>
            <a:ext cx="199705" cy="199705"/>
          </a:xfrm>
          <a:prstGeom prst="rect">
            <a:avLst/>
          </a:prstGeom>
        </p:spPr>
      </p:pic>
      <p:sp>
        <p:nvSpPr>
          <p:cNvPr id="20" name="Text 17"/>
          <p:cNvSpPr/>
          <p:nvPr/>
        </p:nvSpPr>
        <p:spPr>
          <a:xfrm>
            <a:off x="1371600" y="3913632"/>
            <a:ext cx="4434840" cy="384048"/>
          </a:xfrm>
          <a:prstGeom prst="rect">
            <a:avLst/>
          </a:prstGeom>
          <a:noFill/>
          <a:ln/>
        </p:spPr>
        <p:txBody>
          <a:bodyPr wrap="square" lIns="0" tIns="0" rIns="0" bIns="0" rtlCol="0" anchor="ctr"/>
          <a:lstStyle/>
          <a:p>
            <a:pPr indent="0" marL="0">
              <a:buNone/>
            </a:pPr>
            <a:r>
              <a:rPr lang="en-US" sz="1100" dirty="0">
                <a:solidFill>
                  <a:srgbClr val="D7DCE8"/>
                </a:solidFill>
                <a:latin typeface="Calibri" pitchFamily="34" charset="0"/>
                <a:ea typeface="Calibri" pitchFamily="34" charset="-122"/>
                <a:cs typeface="Calibri" pitchFamily="34" charset="-120"/>
              </a:rPr>
              <a:t>Auto Scaling avoids paying for idle peak capacity 24/7</a:t>
            </a:r>
            <a:endParaRPr lang="en-US" sz="1100" dirty="0"/>
          </a:p>
        </p:txBody>
      </p:sp>
      <p:sp>
        <p:nvSpPr>
          <p:cNvPr id="21" name="Shape 18"/>
          <p:cNvSpPr/>
          <p:nvPr/>
        </p:nvSpPr>
        <p:spPr>
          <a:xfrm>
            <a:off x="868680" y="4434840"/>
            <a:ext cx="384048" cy="384048"/>
          </a:xfrm>
          <a:prstGeom prst="ellipse">
            <a:avLst/>
          </a:prstGeom>
          <a:solidFill>
            <a:srgbClr val="13284A"/>
          </a:solidFill>
          <a:ln w="19050">
            <a:solidFill>
              <a:srgbClr val="00FF88"/>
            </a:solidFill>
            <a:prstDash val="solid"/>
          </a:ln>
        </p:spPr>
      </p:sp>
      <p:pic>
        <p:nvPicPr>
          <p:cNvPr id="22" name="Image 1" descr="preencoded.png">    </p:cNvPr>
          <p:cNvPicPr>
            <a:picLocks noChangeAspect="1"/>
          </p:cNvPicPr>
          <p:nvPr/>
        </p:nvPicPr>
        <p:blipFill>
          <a:blip r:embed="rId2"/>
          <a:stretch>
            <a:fillRect/>
          </a:stretch>
        </p:blipFill>
        <p:spPr>
          <a:xfrm>
            <a:off x="960852" y="4527012"/>
            <a:ext cx="199705" cy="199705"/>
          </a:xfrm>
          <a:prstGeom prst="rect">
            <a:avLst/>
          </a:prstGeom>
        </p:spPr>
      </p:pic>
      <p:sp>
        <p:nvSpPr>
          <p:cNvPr id="23" name="Text 19"/>
          <p:cNvSpPr/>
          <p:nvPr/>
        </p:nvSpPr>
        <p:spPr>
          <a:xfrm>
            <a:off x="1371600" y="4416552"/>
            <a:ext cx="4434840" cy="384048"/>
          </a:xfrm>
          <a:prstGeom prst="rect">
            <a:avLst/>
          </a:prstGeom>
          <a:noFill/>
          <a:ln/>
        </p:spPr>
        <p:txBody>
          <a:bodyPr wrap="square" lIns="0" tIns="0" rIns="0" bIns="0" rtlCol="0" anchor="ctr"/>
          <a:lstStyle/>
          <a:p>
            <a:pPr indent="0" marL="0">
              <a:buNone/>
            </a:pPr>
            <a:r>
              <a:rPr lang="en-US" sz="1100" dirty="0">
                <a:solidFill>
                  <a:srgbClr val="D7DCE8"/>
                </a:solidFill>
                <a:latin typeface="Calibri" pitchFamily="34" charset="0"/>
                <a:ea typeface="Calibri" pitchFamily="34" charset="-122"/>
                <a:cs typeface="Calibri" pitchFamily="34" charset="-120"/>
              </a:rPr>
              <a:t>t3.micro / db.t3.micro right-sized for dev workload</a:t>
            </a:r>
            <a:endParaRPr lang="en-US" sz="1100" dirty="0"/>
          </a:p>
        </p:txBody>
      </p:sp>
      <p:sp>
        <p:nvSpPr>
          <p:cNvPr id="24" name="Shape 20"/>
          <p:cNvSpPr/>
          <p:nvPr/>
        </p:nvSpPr>
        <p:spPr>
          <a:xfrm>
            <a:off x="868680" y="4937760"/>
            <a:ext cx="384048" cy="384048"/>
          </a:xfrm>
          <a:prstGeom prst="ellipse">
            <a:avLst/>
          </a:prstGeom>
          <a:solidFill>
            <a:srgbClr val="13284A"/>
          </a:solidFill>
          <a:ln w="19050">
            <a:solidFill>
              <a:srgbClr val="00FF88"/>
            </a:solidFill>
            <a:prstDash val="solid"/>
          </a:ln>
        </p:spPr>
      </p:sp>
      <p:pic>
        <p:nvPicPr>
          <p:cNvPr id="25" name="Image 2" descr="preencoded.png">    </p:cNvPr>
          <p:cNvPicPr>
            <a:picLocks noChangeAspect="1"/>
          </p:cNvPicPr>
          <p:nvPr/>
        </p:nvPicPr>
        <p:blipFill>
          <a:blip r:embed="rId3"/>
          <a:stretch>
            <a:fillRect/>
          </a:stretch>
        </p:blipFill>
        <p:spPr>
          <a:xfrm>
            <a:off x="960852" y="5029932"/>
            <a:ext cx="199705" cy="199705"/>
          </a:xfrm>
          <a:prstGeom prst="rect">
            <a:avLst/>
          </a:prstGeom>
        </p:spPr>
      </p:pic>
      <p:sp>
        <p:nvSpPr>
          <p:cNvPr id="26" name="Text 21"/>
          <p:cNvSpPr/>
          <p:nvPr/>
        </p:nvSpPr>
        <p:spPr>
          <a:xfrm>
            <a:off x="1371600" y="4919472"/>
            <a:ext cx="4434840" cy="384048"/>
          </a:xfrm>
          <a:prstGeom prst="rect">
            <a:avLst/>
          </a:prstGeom>
          <a:noFill/>
          <a:ln/>
        </p:spPr>
        <p:txBody>
          <a:bodyPr wrap="square" lIns="0" tIns="0" rIns="0" bIns="0" rtlCol="0" anchor="ctr"/>
          <a:lstStyle/>
          <a:p>
            <a:pPr indent="0" marL="0">
              <a:buNone/>
            </a:pPr>
            <a:r>
              <a:rPr lang="en-US" sz="1100" dirty="0">
                <a:solidFill>
                  <a:srgbClr val="D7DCE8"/>
                </a:solidFill>
                <a:latin typeface="Calibri" pitchFamily="34" charset="0"/>
                <a:ea typeface="Calibri" pitchFamily="34" charset="-122"/>
                <a:cs typeface="Calibri" pitchFamily="34" charset="-120"/>
              </a:rPr>
              <a:t>Single NAT Gateway (dev) — multi-NAT documented for prod</a:t>
            </a:r>
            <a:endParaRPr lang="en-US" sz="1100" dirty="0"/>
          </a:p>
        </p:txBody>
      </p:sp>
      <p:sp>
        <p:nvSpPr>
          <p:cNvPr id="27" name="Shape 22"/>
          <p:cNvSpPr/>
          <p:nvPr/>
        </p:nvSpPr>
        <p:spPr>
          <a:xfrm>
            <a:off x="868680" y="5440680"/>
            <a:ext cx="384048" cy="384048"/>
          </a:xfrm>
          <a:prstGeom prst="ellipse">
            <a:avLst/>
          </a:prstGeom>
          <a:solidFill>
            <a:srgbClr val="13284A"/>
          </a:solidFill>
          <a:ln w="19050">
            <a:solidFill>
              <a:srgbClr val="00FF88"/>
            </a:solidFill>
            <a:prstDash val="solid"/>
          </a:ln>
        </p:spPr>
      </p:sp>
      <p:pic>
        <p:nvPicPr>
          <p:cNvPr id="28" name="Image 3" descr="preencoded.png">    </p:cNvPr>
          <p:cNvPicPr>
            <a:picLocks noChangeAspect="1"/>
          </p:cNvPicPr>
          <p:nvPr/>
        </p:nvPicPr>
        <p:blipFill>
          <a:blip r:embed="rId4"/>
          <a:stretch>
            <a:fillRect/>
          </a:stretch>
        </p:blipFill>
        <p:spPr>
          <a:xfrm>
            <a:off x="960852" y="5532852"/>
            <a:ext cx="199705" cy="199705"/>
          </a:xfrm>
          <a:prstGeom prst="rect">
            <a:avLst/>
          </a:prstGeom>
        </p:spPr>
      </p:pic>
      <p:sp>
        <p:nvSpPr>
          <p:cNvPr id="29" name="Text 23"/>
          <p:cNvSpPr/>
          <p:nvPr/>
        </p:nvSpPr>
        <p:spPr>
          <a:xfrm>
            <a:off x="1371600" y="5422392"/>
            <a:ext cx="4434840" cy="384048"/>
          </a:xfrm>
          <a:prstGeom prst="rect">
            <a:avLst/>
          </a:prstGeom>
          <a:noFill/>
          <a:ln/>
        </p:spPr>
        <p:txBody>
          <a:bodyPr wrap="square" lIns="0" tIns="0" rIns="0" bIns="0" rtlCol="0" anchor="ctr"/>
          <a:lstStyle/>
          <a:p>
            <a:pPr indent="0" marL="0">
              <a:buNone/>
            </a:pPr>
            <a:r>
              <a:rPr lang="en-US" sz="1100" dirty="0">
                <a:solidFill>
                  <a:srgbClr val="D7DCE8"/>
                </a:solidFill>
                <a:latin typeface="Calibri" pitchFamily="34" charset="0"/>
                <a:ea typeface="Calibri" pitchFamily="34" charset="-122"/>
                <a:cs typeface="Calibri" pitchFamily="34" charset="-120"/>
              </a:rPr>
              <a:t>Cost allocation tags applied for chargeback visibility</a:t>
            </a:r>
            <a:endParaRPr lang="en-US" sz="1100" dirty="0"/>
          </a:p>
        </p:txBody>
      </p:sp>
      <p:sp>
        <p:nvSpPr>
          <p:cNvPr id="30" name="Shape 24"/>
          <p:cNvSpPr/>
          <p:nvPr/>
        </p:nvSpPr>
        <p:spPr>
          <a:xfrm>
            <a:off x="6080760" y="3246120"/>
            <a:ext cx="5532120" cy="2788920"/>
          </a:xfrm>
          <a:prstGeom prst="roundRect">
            <a:avLst>
              <a:gd name="adj" fmla="val 3934"/>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31" name="Text 25"/>
          <p:cNvSpPr/>
          <p:nvPr/>
        </p:nvSpPr>
        <p:spPr>
          <a:xfrm>
            <a:off x="6400800" y="3474720"/>
            <a:ext cx="4937760" cy="365760"/>
          </a:xfrm>
          <a:prstGeom prst="rect">
            <a:avLst/>
          </a:prstGeom>
          <a:noFill/>
          <a:ln/>
        </p:spPr>
        <p:txBody>
          <a:bodyPr wrap="square" lIns="0" tIns="0" rIns="0" bIns="0" rtlCol="0" anchor="ctr"/>
          <a:lstStyle/>
          <a:p>
            <a:pPr indent="0" marL="0">
              <a:buNone/>
            </a:pPr>
            <a:r>
              <a:rPr lang="en-US" sz="1600" b="1" dirty="0">
                <a:solidFill>
                  <a:srgbClr val="00FF88"/>
                </a:solidFill>
                <a:latin typeface="Cambria" pitchFamily="34" charset="0"/>
                <a:ea typeface="Cambria" pitchFamily="34" charset="-122"/>
                <a:cs typeface="Cambria" pitchFamily="34" charset="-120"/>
              </a:rPr>
              <a:t>Business Value Delivered</a:t>
            </a:r>
            <a:endParaRPr lang="en-US" sz="1600" dirty="0"/>
          </a:p>
        </p:txBody>
      </p:sp>
      <p:sp>
        <p:nvSpPr>
          <p:cNvPr id="32" name="Shape 26"/>
          <p:cNvSpPr/>
          <p:nvPr/>
        </p:nvSpPr>
        <p:spPr>
          <a:xfrm>
            <a:off x="6400800" y="3931920"/>
            <a:ext cx="384048" cy="384048"/>
          </a:xfrm>
          <a:prstGeom prst="ellipse">
            <a:avLst/>
          </a:prstGeom>
          <a:solidFill>
            <a:srgbClr val="13284A"/>
          </a:solidFill>
          <a:ln w="19050">
            <a:solidFill>
              <a:srgbClr val="00FF88"/>
            </a:solidFill>
            <a:prstDash val="solid"/>
          </a:ln>
        </p:spPr>
      </p:sp>
      <p:pic>
        <p:nvPicPr>
          <p:cNvPr id="33" name="Image 4" descr="preencoded.png">    </p:cNvPr>
          <p:cNvPicPr>
            <a:picLocks noChangeAspect="1"/>
          </p:cNvPicPr>
          <p:nvPr/>
        </p:nvPicPr>
        <p:blipFill>
          <a:blip r:embed="rId5"/>
          <a:stretch>
            <a:fillRect/>
          </a:stretch>
        </p:blipFill>
        <p:spPr>
          <a:xfrm>
            <a:off x="6492972" y="4024092"/>
            <a:ext cx="199705" cy="199705"/>
          </a:xfrm>
          <a:prstGeom prst="rect">
            <a:avLst/>
          </a:prstGeom>
        </p:spPr>
      </p:pic>
      <p:sp>
        <p:nvSpPr>
          <p:cNvPr id="34" name="Text 27"/>
          <p:cNvSpPr/>
          <p:nvPr/>
        </p:nvSpPr>
        <p:spPr>
          <a:xfrm>
            <a:off x="6903720" y="3913632"/>
            <a:ext cx="4480560" cy="384048"/>
          </a:xfrm>
          <a:prstGeom prst="rect">
            <a:avLst/>
          </a:prstGeom>
          <a:noFill/>
          <a:ln/>
        </p:spPr>
        <p:txBody>
          <a:bodyPr wrap="square" lIns="0" tIns="0" rIns="0" bIns="0" rtlCol="0" anchor="ctr"/>
          <a:lstStyle/>
          <a:p>
            <a:pPr indent="0" marL="0">
              <a:buNone/>
            </a:pPr>
            <a:r>
              <a:rPr lang="en-US" sz="1100" dirty="0">
                <a:solidFill>
                  <a:srgbClr val="D7DCE8"/>
                </a:solidFill>
                <a:latin typeface="Calibri" pitchFamily="34" charset="0"/>
                <a:ea typeface="Calibri" pitchFamily="34" charset="-122"/>
                <a:cs typeface="Calibri" pitchFamily="34" charset="-120"/>
              </a:rPr>
              <a:t>Reproducible infra: full environment rebuilds in minutes via Terraform</a:t>
            </a:r>
            <a:endParaRPr lang="en-US" sz="1100" dirty="0"/>
          </a:p>
        </p:txBody>
      </p:sp>
      <p:sp>
        <p:nvSpPr>
          <p:cNvPr id="35" name="Shape 28"/>
          <p:cNvSpPr/>
          <p:nvPr/>
        </p:nvSpPr>
        <p:spPr>
          <a:xfrm>
            <a:off x="6400800" y="4434840"/>
            <a:ext cx="384048" cy="384048"/>
          </a:xfrm>
          <a:prstGeom prst="ellipse">
            <a:avLst/>
          </a:prstGeom>
          <a:solidFill>
            <a:srgbClr val="13284A"/>
          </a:solidFill>
          <a:ln w="19050">
            <a:solidFill>
              <a:srgbClr val="00FF88"/>
            </a:solidFill>
            <a:prstDash val="solid"/>
          </a:ln>
        </p:spPr>
      </p:sp>
      <p:pic>
        <p:nvPicPr>
          <p:cNvPr id="36" name="Image 5" descr="preencoded.png">    </p:cNvPr>
          <p:cNvPicPr>
            <a:picLocks noChangeAspect="1"/>
          </p:cNvPicPr>
          <p:nvPr/>
        </p:nvPicPr>
        <p:blipFill>
          <a:blip r:embed="rId6"/>
          <a:stretch>
            <a:fillRect/>
          </a:stretch>
        </p:blipFill>
        <p:spPr>
          <a:xfrm>
            <a:off x="6492972" y="4527012"/>
            <a:ext cx="199705" cy="199705"/>
          </a:xfrm>
          <a:prstGeom prst="rect">
            <a:avLst/>
          </a:prstGeom>
        </p:spPr>
      </p:pic>
      <p:sp>
        <p:nvSpPr>
          <p:cNvPr id="37" name="Text 29"/>
          <p:cNvSpPr/>
          <p:nvPr/>
        </p:nvSpPr>
        <p:spPr>
          <a:xfrm>
            <a:off x="6903720" y="4416552"/>
            <a:ext cx="4480560" cy="384048"/>
          </a:xfrm>
          <a:prstGeom prst="rect">
            <a:avLst/>
          </a:prstGeom>
          <a:noFill/>
          <a:ln/>
        </p:spPr>
        <p:txBody>
          <a:bodyPr wrap="square" lIns="0" tIns="0" rIns="0" bIns="0" rtlCol="0" anchor="ctr"/>
          <a:lstStyle/>
          <a:p>
            <a:pPr indent="0" marL="0">
              <a:buNone/>
            </a:pPr>
            <a:r>
              <a:rPr lang="en-US" sz="1100" dirty="0">
                <a:solidFill>
                  <a:srgbClr val="D7DCE8"/>
                </a:solidFill>
                <a:latin typeface="Calibri" pitchFamily="34" charset="0"/>
                <a:ea typeface="Calibri" pitchFamily="34" charset="-122"/>
                <a:cs typeface="Calibri" pitchFamily="34" charset="-120"/>
              </a:rPr>
              <a:t>Security posture demonstrable to auditors (CloudTrail + Security Hub)</a:t>
            </a:r>
            <a:endParaRPr lang="en-US" sz="1100" dirty="0"/>
          </a:p>
        </p:txBody>
      </p:sp>
      <p:sp>
        <p:nvSpPr>
          <p:cNvPr id="38" name="Shape 30"/>
          <p:cNvSpPr/>
          <p:nvPr/>
        </p:nvSpPr>
        <p:spPr>
          <a:xfrm>
            <a:off x="6400800" y="4937760"/>
            <a:ext cx="384048" cy="384048"/>
          </a:xfrm>
          <a:prstGeom prst="ellipse">
            <a:avLst/>
          </a:prstGeom>
          <a:solidFill>
            <a:srgbClr val="13284A"/>
          </a:solidFill>
          <a:ln w="19050">
            <a:solidFill>
              <a:srgbClr val="00FF88"/>
            </a:solidFill>
            <a:prstDash val="solid"/>
          </a:ln>
        </p:spPr>
      </p:sp>
      <p:pic>
        <p:nvPicPr>
          <p:cNvPr id="39" name="Image 6" descr="preencoded.png">    </p:cNvPr>
          <p:cNvPicPr>
            <a:picLocks noChangeAspect="1"/>
          </p:cNvPicPr>
          <p:nvPr/>
        </p:nvPicPr>
        <p:blipFill>
          <a:blip r:embed="rId7"/>
          <a:stretch>
            <a:fillRect/>
          </a:stretch>
        </p:blipFill>
        <p:spPr>
          <a:xfrm>
            <a:off x="6492972" y="5029932"/>
            <a:ext cx="199705" cy="199705"/>
          </a:xfrm>
          <a:prstGeom prst="rect">
            <a:avLst/>
          </a:prstGeom>
        </p:spPr>
      </p:pic>
      <p:sp>
        <p:nvSpPr>
          <p:cNvPr id="40" name="Text 31"/>
          <p:cNvSpPr/>
          <p:nvPr/>
        </p:nvSpPr>
        <p:spPr>
          <a:xfrm>
            <a:off x="6903720" y="4919472"/>
            <a:ext cx="4480560" cy="384048"/>
          </a:xfrm>
          <a:prstGeom prst="rect">
            <a:avLst/>
          </a:prstGeom>
          <a:noFill/>
          <a:ln/>
        </p:spPr>
        <p:txBody>
          <a:bodyPr wrap="square" lIns="0" tIns="0" rIns="0" bIns="0" rtlCol="0" anchor="ctr"/>
          <a:lstStyle/>
          <a:p>
            <a:pPr indent="0" marL="0">
              <a:buNone/>
            </a:pPr>
            <a:r>
              <a:rPr lang="en-US" sz="1100" dirty="0">
                <a:solidFill>
                  <a:srgbClr val="D7DCE8"/>
                </a:solidFill>
                <a:latin typeface="Calibri" pitchFamily="34" charset="0"/>
                <a:ea typeface="Calibri" pitchFamily="34" charset="-122"/>
                <a:cs typeface="Calibri" pitchFamily="34" charset="-120"/>
              </a:rPr>
              <a:t>Mean-time-to-detect failures reduced via proactive alarms</a:t>
            </a:r>
            <a:endParaRPr lang="en-US" sz="1100" dirty="0"/>
          </a:p>
        </p:txBody>
      </p:sp>
      <p:sp>
        <p:nvSpPr>
          <p:cNvPr id="41" name="Shape 32"/>
          <p:cNvSpPr/>
          <p:nvPr/>
        </p:nvSpPr>
        <p:spPr>
          <a:xfrm>
            <a:off x="6400800" y="5440680"/>
            <a:ext cx="384048" cy="384048"/>
          </a:xfrm>
          <a:prstGeom prst="ellipse">
            <a:avLst/>
          </a:prstGeom>
          <a:solidFill>
            <a:srgbClr val="13284A"/>
          </a:solidFill>
          <a:ln w="19050">
            <a:solidFill>
              <a:srgbClr val="00FF88"/>
            </a:solidFill>
            <a:prstDash val="solid"/>
          </a:ln>
        </p:spPr>
      </p:sp>
      <p:pic>
        <p:nvPicPr>
          <p:cNvPr id="42" name="Image 7" descr="preencoded.png">    </p:cNvPr>
          <p:cNvPicPr>
            <a:picLocks noChangeAspect="1"/>
          </p:cNvPicPr>
          <p:nvPr/>
        </p:nvPicPr>
        <p:blipFill>
          <a:blip r:embed="rId8"/>
          <a:stretch>
            <a:fillRect/>
          </a:stretch>
        </p:blipFill>
        <p:spPr>
          <a:xfrm>
            <a:off x="6492972" y="5532852"/>
            <a:ext cx="199705" cy="199705"/>
          </a:xfrm>
          <a:prstGeom prst="rect">
            <a:avLst/>
          </a:prstGeom>
        </p:spPr>
      </p:pic>
      <p:sp>
        <p:nvSpPr>
          <p:cNvPr id="43" name="Text 33"/>
          <p:cNvSpPr/>
          <p:nvPr/>
        </p:nvSpPr>
        <p:spPr>
          <a:xfrm>
            <a:off x="6903720" y="5422392"/>
            <a:ext cx="4480560" cy="384048"/>
          </a:xfrm>
          <a:prstGeom prst="rect">
            <a:avLst/>
          </a:prstGeom>
          <a:noFill/>
          <a:ln/>
        </p:spPr>
        <p:txBody>
          <a:bodyPr wrap="square" lIns="0" tIns="0" rIns="0" bIns="0" rtlCol="0" anchor="ctr"/>
          <a:lstStyle/>
          <a:p>
            <a:pPr indent="0" marL="0">
              <a:buNone/>
            </a:pPr>
            <a:r>
              <a:rPr lang="en-US" sz="1100" dirty="0">
                <a:solidFill>
                  <a:srgbClr val="D7DCE8"/>
                </a:solidFill>
                <a:latin typeface="Calibri" pitchFamily="34" charset="0"/>
                <a:ea typeface="Calibri" pitchFamily="34" charset="-122"/>
                <a:cs typeface="Calibri" pitchFamily="34" charset="-120"/>
              </a:rPr>
              <a:t>Self-service scaling removes manual capacity planning</a:t>
            </a:r>
            <a:endParaRPr lang="en-US" sz="1100" dirty="0"/>
          </a:p>
        </p:txBody>
      </p:sp>
      <p:sp>
        <p:nvSpPr>
          <p:cNvPr id="44" name="Text 34"/>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11</a:t>
            </a:r>
            <a:endParaRPr lang="en-US" sz="1000" dirty="0"/>
          </a:p>
        </p:txBody>
      </p:sp>
      <p:sp>
        <p:nvSpPr>
          <p:cNvPr id="45" name="Text 35"/>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3A6"/>
                </a:solidFill>
                <a:latin typeface="Calibri" pitchFamily="34" charset="0"/>
                <a:ea typeface="Calibri" pitchFamily="34" charset="-122"/>
                <a:cs typeface="Calibri" pitchFamily="34" charset="-120"/>
              </a:rPr>
              <a:t>VaultPay Platform</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B33"/>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3284A"/>
          </a:solidFill>
          <a:ln/>
        </p:spPr>
      </p:sp>
      <p:sp>
        <p:nvSpPr>
          <p:cNvPr id="3" name="Shape 1"/>
          <p:cNvSpPr/>
          <p:nvPr/>
        </p:nvSpPr>
        <p:spPr>
          <a:xfrm>
            <a:off x="9144000" y="3657600"/>
            <a:ext cx="5029200" cy="5029200"/>
          </a:xfrm>
          <a:prstGeom prst="ellipse">
            <a:avLst/>
          </a:prstGeom>
          <a:solidFill>
            <a:srgbClr val="13284A"/>
          </a:solidFill>
          <a:ln/>
        </p:spPr>
      </p:sp>
      <p:sp>
        <p:nvSpPr>
          <p:cNvPr id="4" name="Text 2"/>
          <p:cNvSpPr/>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0B4D8"/>
                </a:solidFill>
                <a:latin typeface="Calibri" pitchFamily="34" charset="0"/>
                <a:ea typeface="Calibri" pitchFamily="34" charset="-122"/>
                <a:cs typeface="Calibri" pitchFamily="34" charset="-120"/>
              </a:rPr>
              <a:t>CLOSING</a:t>
            </a:r>
            <a:endParaRPr lang="en-US" sz="1200" dirty="0"/>
          </a:p>
        </p:txBody>
      </p:sp>
      <p:sp>
        <p:nvSpPr>
          <p:cNvPr id="5" name="Text 3"/>
          <p:cNvSpPr/>
          <p:nvPr/>
        </p:nvSpPr>
        <p:spPr>
          <a:xfrm>
            <a:off x="548640" y="621792"/>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What's Next &amp; Key Takeaways</a:t>
            </a:r>
            <a:endParaRPr lang="en-US" sz="3000" dirty="0"/>
          </a:p>
        </p:txBody>
      </p:sp>
      <p:sp>
        <p:nvSpPr>
          <p:cNvPr id="6" name="Shape 4"/>
          <p:cNvSpPr/>
          <p:nvPr/>
        </p:nvSpPr>
        <p:spPr>
          <a:xfrm>
            <a:off x="548640" y="1645920"/>
            <a:ext cx="5394960" cy="4389120"/>
          </a:xfrm>
          <a:prstGeom prst="roundRect">
            <a:avLst>
              <a:gd name="adj" fmla="val 2500"/>
            </a:avLst>
          </a:prstGeom>
          <a:solidFill>
            <a:srgbClr val="16213E"/>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868680" y="1874520"/>
            <a:ext cx="4754880" cy="365760"/>
          </a:xfrm>
          <a:prstGeom prst="rect">
            <a:avLst/>
          </a:prstGeom>
          <a:noFill/>
          <a:ln/>
        </p:spPr>
        <p:txBody>
          <a:bodyPr wrap="square" lIns="0" tIns="0" rIns="0" bIns="0" rtlCol="0" anchor="ctr"/>
          <a:lstStyle/>
          <a:p>
            <a:pPr indent="0" marL="0">
              <a:buNone/>
            </a:pPr>
            <a:r>
              <a:rPr lang="en-US" sz="1700" b="1" dirty="0">
                <a:solidFill>
                  <a:srgbClr val="00B4D8"/>
                </a:solidFill>
                <a:latin typeface="Cambria" pitchFamily="34" charset="0"/>
                <a:ea typeface="Cambria" pitchFamily="34" charset="-122"/>
                <a:cs typeface="Cambria" pitchFamily="34" charset="-120"/>
              </a:rPr>
              <a:t>Roadmap</a:t>
            </a:r>
            <a:endParaRPr lang="en-US" sz="1700" dirty="0"/>
          </a:p>
        </p:txBody>
      </p:sp>
      <p:sp>
        <p:nvSpPr>
          <p:cNvPr id="8" name="Shape 6"/>
          <p:cNvSpPr/>
          <p:nvPr/>
        </p:nvSpPr>
        <p:spPr>
          <a:xfrm>
            <a:off x="868680" y="2423160"/>
            <a:ext cx="457200" cy="457200"/>
          </a:xfrm>
          <a:prstGeom prst="ellipse">
            <a:avLst/>
          </a:prstGeom>
          <a:solidFill>
            <a:srgbClr val="13284A"/>
          </a:solidFill>
          <a:ln w="19050">
            <a:solidFill>
              <a:srgbClr val="00B4D8"/>
            </a:solidFill>
            <a:prstDash val="solid"/>
          </a:ln>
        </p:spPr>
      </p:sp>
      <p:pic>
        <p:nvPicPr>
          <p:cNvPr id="9" name="Image 0" descr="preencoded.png">    </p:cNvPr>
          <p:cNvPicPr>
            <a:picLocks noChangeAspect="1"/>
          </p:cNvPicPr>
          <p:nvPr/>
        </p:nvPicPr>
        <p:blipFill>
          <a:blip r:embed="rId1"/>
          <a:stretch>
            <a:fillRect/>
          </a:stretch>
        </p:blipFill>
        <p:spPr>
          <a:xfrm>
            <a:off x="978408" y="2532888"/>
            <a:ext cx="237744" cy="237744"/>
          </a:xfrm>
          <a:prstGeom prst="rect">
            <a:avLst/>
          </a:prstGeom>
        </p:spPr>
      </p:pic>
      <p:sp>
        <p:nvSpPr>
          <p:cNvPr id="10" name="Text 7"/>
          <p:cNvSpPr/>
          <p:nvPr/>
        </p:nvSpPr>
        <p:spPr>
          <a:xfrm>
            <a:off x="1463040" y="2423160"/>
            <a:ext cx="438912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HTTPS via ACM + custom domain (Route 53)</a:t>
            </a:r>
            <a:endParaRPr lang="en-US" sz="1250" dirty="0"/>
          </a:p>
        </p:txBody>
      </p:sp>
      <p:sp>
        <p:nvSpPr>
          <p:cNvPr id="11" name="Shape 8"/>
          <p:cNvSpPr/>
          <p:nvPr/>
        </p:nvSpPr>
        <p:spPr>
          <a:xfrm>
            <a:off x="868680" y="3200400"/>
            <a:ext cx="457200" cy="457200"/>
          </a:xfrm>
          <a:prstGeom prst="ellipse">
            <a:avLst/>
          </a:prstGeom>
          <a:solidFill>
            <a:srgbClr val="13284A"/>
          </a:solidFill>
          <a:ln w="19050">
            <a:solidFill>
              <a:srgbClr val="00B4D8"/>
            </a:solidFill>
            <a:prstDash val="solid"/>
          </a:ln>
        </p:spPr>
      </p:sp>
      <p:pic>
        <p:nvPicPr>
          <p:cNvPr id="12" name="Image 1" descr="preencoded.png">    </p:cNvPr>
          <p:cNvPicPr>
            <a:picLocks noChangeAspect="1"/>
          </p:cNvPicPr>
          <p:nvPr/>
        </p:nvPicPr>
        <p:blipFill>
          <a:blip r:embed="rId2"/>
          <a:stretch>
            <a:fillRect/>
          </a:stretch>
        </p:blipFill>
        <p:spPr>
          <a:xfrm>
            <a:off x="978408" y="3310128"/>
            <a:ext cx="237744" cy="237744"/>
          </a:xfrm>
          <a:prstGeom prst="rect">
            <a:avLst/>
          </a:prstGeom>
        </p:spPr>
      </p:pic>
      <p:sp>
        <p:nvSpPr>
          <p:cNvPr id="13" name="Text 9"/>
          <p:cNvSpPr/>
          <p:nvPr/>
        </p:nvSpPr>
        <p:spPr>
          <a:xfrm>
            <a:off x="1463040" y="3200400"/>
            <a:ext cx="438912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Decouple frontend to S3 + CloudFront</a:t>
            </a:r>
            <a:endParaRPr lang="en-US" sz="1250" dirty="0"/>
          </a:p>
        </p:txBody>
      </p:sp>
      <p:sp>
        <p:nvSpPr>
          <p:cNvPr id="14" name="Shape 10"/>
          <p:cNvSpPr/>
          <p:nvPr/>
        </p:nvSpPr>
        <p:spPr>
          <a:xfrm>
            <a:off x="868680" y="3977640"/>
            <a:ext cx="457200" cy="457200"/>
          </a:xfrm>
          <a:prstGeom prst="ellipse">
            <a:avLst/>
          </a:prstGeom>
          <a:solidFill>
            <a:srgbClr val="13284A"/>
          </a:solidFill>
          <a:ln w="19050">
            <a:solidFill>
              <a:srgbClr val="00B4D8"/>
            </a:solidFill>
            <a:prstDash val="solid"/>
          </a:ln>
        </p:spPr>
      </p:sp>
      <p:pic>
        <p:nvPicPr>
          <p:cNvPr id="15" name="Image 2" descr="preencoded.png">    </p:cNvPr>
          <p:cNvPicPr>
            <a:picLocks noChangeAspect="1"/>
          </p:cNvPicPr>
          <p:nvPr/>
        </p:nvPicPr>
        <p:blipFill>
          <a:blip r:embed="rId3"/>
          <a:stretch>
            <a:fillRect/>
          </a:stretch>
        </p:blipFill>
        <p:spPr>
          <a:xfrm>
            <a:off x="978408" y="4087368"/>
            <a:ext cx="237744" cy="237744"/>
          </a:xfrm>
          <a:prstGeom prst="rect">
            <a:avLst/>
          </a:prstGeom>
        </p:spPr>
      </p:pic>
      <p:sp>
        <p:nvSpPr>
          <p:cNvPr id="16" name="Text 11"/>
          <p:cNvSpPr/>
          <p:nvPr/>
        </p:nvSpPr>
        <p:spPr>
          <a:xfrm>
            <a:off x="1463040" y="3977640"/>
            <a:ext cx="438912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Containerize the app for zero-downtime deploys</a:t>
            </a:r>
            <a:endParaRPr lang="en-US" sz="1250" dirty="0"/>
          </a:p>
        </p:txBody>
      </p:sp>
      <p:sp>
        <p:nvSpPr>
          <p:cNvPr id="17" name="Shape 12"/>
          <p:cNvSpPr/>
          <p:nvPr/>
        </p:nvSpPr>
        <p:spPr>
          <a:xfrm>
            <a:off x="868680" y="4754880"/>
            <a:ext cx="457200" cy="457200"/>
          </a:xfrm>
          <a:prstGeom prst="ellipse">
            <a:avLst/>
          </a:prstGeom>
          <a:solidFill>
            <a:srgbClr val="13284A"/>
          </a:solidFill>
          <a:ln w="19050">
            <a:solidFill>
              <a:srgbClr val="00B4D8"/>
            </a:solidFill>
            <a:prstDash val="solid"/>
          </a:ln>
        </p:spPr>
      </p:sp>
      <p:pic>
        <p:nvPicPr>
          <p:cNvPr id="18" name="Image 3" descr="preencoded.png">    </p:cNvPr>
          <p:cNvPicPr>
            <a:picLocks noChangeAspect="1"/>
          </p:cNvPicPr>
          <p:nvPr/>
        </p:nvPicPr>
        <p:blipFill>
          <a:blip r:embed="rId4"/>
          <a:stretch>
            <a:fillRect/>
          </a:stretch>
        </p:blipFill>
        <p:spPr>
          <a:xfrm>
            <a:off x="978408" y="4864608"/>
            <a:ext cx="237744" cy="237744"/>
          </a:xfrm>
          <a:prstGeom prst="rect">
            <a:avLst/>
          </a:prstGeom>
        </p:spPr>
      </p:pic>
      <p:sp>
        <p:nvSpPr>
          <p:cNvPr id="19" name="Text 13"/>
          <p:cNvSpPr/>
          <p:nvPr/>
        </p:nvSpPr>
        <p:spPr>
          <a:xfrm>
            <a:off x="1463040" y="4754880"/>
            <a:ext cx="4389120" cy="457200"/>
          </a:xfrm>
          <a:prstGeom prst="rect">
            <a:avLst/>
          </a:prstGeom>
          <a:noFill/>
          <a:ln/>
        </p:spPr>
        <p:txBody>
          <a:bodyPr wrap="square" lIns="0" tIns="0" rIns="0" bIns="0" rtlCol="0" anchor="ctr"/>
          <a:lstStyle/>
          <a:p>
            <a:pPr indent="0" marL="0">
              <a:buNone/>
            </a:pPr>
            <a:r>
              <a:rPr lang="en-US" sz="1250" dirty="0">
                <a:solidFill>
                  <a:srgbClr val="D7DCE8"/>
                </a:solidFill>
                <a:latin typeface="Calibri" pitchFamily="34" charset="0"/>
                <a:ea typeface="Calibri" pitchFamily="34" charset="-122"/>
                <a:cs typeface="Calibri" pitchFamily="34" charset="-120"/>
              </a:rPr>
              <a:t>Multi-region disaster recovery design</a:t>
            </a:r>
            <a:endParaRPr lang="en-US" sz="1250" dirty="0"/>
          </a:p>
        </p:txBody>
      </p:sp>
      <p:sp>
        <p:nvSpPr>
          <p:cNvPr id="20" name="Shape 14"/>
          <p:cNvSpPr/>
          <p:nvPr/>
        </p:nvSpPr>
        <p:spPr>
          <a:xfrm>
            <a:off x="6217920" y="1645920"/>
            <a:ext cx="5394960" cy="4389120"/>
          </a:xfrm>
          <a:prstGeom prst="roundRect">
            <a:avLst>
              <a:gd name="adj" fmla="val 2500"/>
            </a:avLst>
          </a:prstGeom>
          <a:solidFill>
            <a:srgbClr val="13284A"/>
          </a:solidFill>
          <a:ln w="12700">
            <a:solidFill>
              <a:srgbClr val="1F3050"/>
            </a:solidFill>
            <a:prstDash val="solid"/>
          </a:ln>
          <a:effectLst>
            <a:outerShdw sx="100000" sy="100000" kx="0" ky="0" algn="bl" rotWithShape="0" blurRad="101600" dist="38100" dir="2700000">
              <a:srgbClr val="000000">
                <a:alpha val="35000"/>
              </a:srgbClr>
            </a:outerShdw>
          </a:effectLst>
        </p:spPr>
      </p:sp>
      <p:sp>
        <p:nvSpPr>
          <p:cNvPr id="21" name="Text 15"/>
          <p:cNvSpPr/>
          <p:nvPr/>
        </p:nvSpPr>
        <p:spPr>
          <a:xfrm>
            <a:off x="6537960" y="1874520"/>
            <a:ext cx="4754880" cy="365760"/>
          </a:xfrm>
          <a:prstGeom prst="rect">
            <a:avLst/>
          </a:prstGeom>
          <a:noFill/>
          <a:ln/>
        </p:spPr>
        <p:txBody>
          <a:bodyPr wrap="square" lIns="0" tIns="0" rIns="0" bIns="0" rtlCol="0" anchor="ctr"/>
          <a:lstStyle/>
          <a:p>
            <a:pPr indent="0" marL="0">
              <a:buNone/>
            </a:pPr>
            <a:r>
              <a:rPr lang="en-US" sz="1700" b="1" dirty="0">
                <a:solidFill>
                  <a:srgbClr val="00FF88"/>
                </a:solidFill>
                <a:latin typeface="Cambria" pitchFamily="34" charset="0"/>
                <a:ea typeface="Cambria" pitchFamily="34" charset="-122"/>
                <a:cs typeface="Cambria" pitchFamily="34" charset="-120"/>
              </a:rPr>
              <a:t>Key Takeaway</a:t>
            </a:r>
            <a:endParaRPr lang="en-US" sz="1700" dirty="0"/>
          </a:p>
        </p:txBody>
      </p:sp>
      <p:sp>
        <p:nvSpPr>
          <p:cNvPr id="22" name="Text 16"/>
          <p:cNvSpPr/>
          <p:nvPr/>
        </p:nvSpPr>
        <p:spPr>
          <a:xfrm>
            <a:off x="6537960" y="2423160"/>
            <a:ext cx="4754880" cy="1828800"/>
          </a:xfrm>
          <a:prstGeom prst="rect">
            <a:avLst/>
          </a:prstGeom>
          <a:noFill/>
          <a:ln/>
        </p:spPr>
        <p:txBody>
          <a:bodyPr wrap="square" lIns="0" tIns="0" rIns="0" bIns="0" rtlCol="0" anchor="ctr"/>
          <a:lstStyle/>
          <a:p>
            <a:pPr indent="0" marL="0">
              <a:buNone/>
            </a:pPr>
            <a:r>
              <a:rPr lang="en-US" sz="1400" i="1" dirty="0">
                <a:solidFill>
                  <a:srgbClr val="D7DCE8"/>
                </a:solidFill>
                <a:latin typeface="Calibri" pitchFamily="34" charset="0"/>
                <a:ea typeface="Calibri" pitchFamily="34" charset="-122"/>
                <a:cs typeface="Calibri" pitchFamily="34" charset="-120"/>
              </a:rPr>
              <a:t>Building VaultPay end-to-end — networking, compute, data, security, and observability as code — proved I can design and deliver production-grade cloud infrastructure, not just individual AWS services in isolation.</a:t>
            </a:r>
            <a:endParaRPr lang="en-US" sz="1400" dirty="0"/>
          </a:p>
        </p:txBody>
      </p:sp>
      <p:sp>
        <p:nvSpPr>
          <p:cNvPr id="23" name="Shape 17"/>
          <p:cNvSpPr/>
          <p:nvPr/>
        </p:nvSpPr>
        <p:spPr>
          <a:xfrm>
            <a:off x="6537960" y="4434840"/>
            <a:ext cx="4754880" cy="0"/>
          </a:xfrm>
          <a:prstGeom prst="line">
            <a:avLst/>
          </a:prstGeom>
          <a:noFill/>
          <a:ln w="12700">
            <a:solidFill>
              <a:srgbClr val="27406B"/>
            </a:solidFill>
            <a:prstDash val="solid"/>
          </a:ln>
        </p:spPr>
      </p:sp>
      <p:sp>
        <p:nvSpPr>
          <p:cNvPr id="24" name="Text 18"/>
          <p:cNvSpPr/>
          <p:nvPr/>
        </p:nvSpPr>
        <p:spPr>
          <a:xfrm>
            <a:off x="6537960" y="4709160"/>
            <a:ext cx="475488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Questions &amp; Discussion</a:t>
            </a:r>
            <a:endParaRPr lang="en-US" sz="2200" dirty="0"/>
          </a:p>
        </p:txBody>
      </p:sp>
      <p:sp>
        <p:nvSpPr>
          <p:cNvPr id="25" name="Text 19"/>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8A93A6"/>
                </a:solidFill>
                <a:latin typeface="Calibri" pitchFamily="34" charset="0"/>
                <a:ea typeface="Calibri" pitchFamily="34" charset="-122"/>
                <a:cs typeface="Calibri" pitchFamily="34" charset="-120"/>
              </a:rPr>
              <a:t>12</a:t>
            </a:r>
            <a:endParaRPr lang="en-US" sz="1000" dirty="0"/>
          </a:p>
        </p:txBody>
      </p:sp>
      <p:sp>
        <p:nvSpPr>
          <p:cNvPr id="26" name="Text 20"/>
          <p:cNvSpPr/>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3A6"/>
                </a:solidFill>
                <a:latin typeface="Calibri" pitchFamily="34" charset="0"/>
                <a:ea typeface="Calibri" pitchFamily="34" charset="-122"/>
                <a:cs typeface="Calibri" pitchFamily="34" charset="-120"/>
              </a:rPr>
              <a:t>VaultPay Platform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VaultPay Platform - Capstone Presentation</dc:title>
  <dc:subject>PptxGenJS Presentation</dc:subject>
  <dc:creator>Cloud Engineering Bootcamp</dc:creator>
  <cp:lastModifiedBy>Cloud Engineering Bootcamp</cp:lastModifiedBy>
  <cp:revision>1</cp:revision>
  <dcterms:created xsi:type="dcterms:W3CDTF">2026-06-19T00:23:48Z</dcterms:created>
  <dcterms:modified xsi:type="dcterms:W3CDTF">2026-06-19T00:23:48Z</dcterms:modified>
</cp:coreProperties>
</file>